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rels" ContentType="application/vnd.openxmlformats-package.relationship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2.xml" ContentType="application/vnd.openxmlformats-officedocument.presentationml.slideLayout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a90d67f0fd04c90" /><Relationship Type="http://schemas.openxmlformats.org/package/2006/relationships/metadata/core-properties" Target="/docProps/core.xml" Id="Ra29a5b1efe5f4cf3" /><Relationship Type="http://schemas.openxmlformats.org/officeDocument/2006/relationships/extended-properties" Target="/docProps/app.xml" Id="R8ac6330c4a164b97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af6e325e20e9409b"/>
    <p:sldMasterId id="2147483650" r:id="R94716b859302413d"/>
  </p:sldMasterIdLst>
  <p:notesMasterIdLst>
    <p:notesMasterId r:id="R1955512ea2bf419d"/>
  </p:notesMasterIdLst>
  <p:sldIdLst>
    <p:sldId id="256" r:id="R95ee6c45dc81402f"/>
    <p:sldId id="257" r:id="Rf9a5f8f3e8034d24"/>
    <p:sldId id="258" r:id="R4c5778c5522d4adf"/>
    <p:sldId id="259" r:id="R40c0cdb209e345e6"/>
    <p:sldId id="260" r:id="Rf559834e8818492b"/>
    <p:sldId id="261" r:id="R1687a12802234dd9"/>
    <p:sldId id="262" r:id="Rddbe372f1ee4401a"/>
    <p:sldId id="263" r:id="R5e10df3145594525"/>
    <p:sldId id="264" r:id="R50b093ad4ad84172"/>
    <p:sldId id="265" r:id="R0cd63f9ff52144a5"/>
    <p:sldId id="266" r:id="Rd999a1ca0b2946df"/>
    <p:sldId id="267" r:id="R577f714b37e8493e"/>
    <p:sldId id="268" r:id="Re706f7063d6f48c4"/>
    <p:sldId id="269" r:id="R20d7983c03e54aa0"/>
    <p:sldId id="270" r:id="R03f47d8bbd6347d6"/>
    <p:sldId id="271" r:id="R6291902538cc458e"/>
    <p:sldId id="272" r:id="R2d3cc05776ca4395"/>
    <p:sldId id="273" r:id="R81571fb8ed5c4179"/>
    <p:sldId id="274" r:id="R03ae84e4493c4ec8"/>
    <p:sldId id="275" r:id="R2b32199b47294241"/>
    <p:sldId id="276" r:id="R7c43bd2717094ba2"/>
    <p:sldId id="277" r:id="R1df0fc1227be482c"/>
    <p:sldId id="278" r:id="Rdaf4c843bfce47f4"/>
    <p:sldId id="279" r:id="Rd5b0d415907b4bb8"/>
    <p:sldId id="280" r:id="R838a1facc4f449b4"/>
    <p:sldId id="281" r:id="Rba54247e00b64068"/>
    <p:sldId id="282" r:id="Rbc61718679394a17"/>
    <p:sldId id="283" r:id="R5446be7848dd421b"/>
    <p:sldId id="284" r:id="R6bb3a8638ad5469d"/>
    <p:sldId id="285" r:id="R4e716bc64d1b4173"/>
    <p:sldId id="286" r:id="Rf1319d4d220c439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955512ea2bf419d" /><Relationship Type="http://schemas.openxmlformats.org/officeDocument/2006/relationships/presProps" Target="/ppt/presProps.xml" Id="R71f7b307e757495d" /><Relationship Type="http://schemas.openxmlformats.org/officeDocument/2006/relationships/viewProps" Target="/ppt/viewProps.xml" Id="Rb35bc8dcd1b34379" /><Relationship Type="http://schemas.openxmlformats.org/officeDocument/2006/relationships/slideMaster" Target="/ppt/slideMasters/slideMaster1.xml" Id="Raf6e325e20e9409b" /><Relationship Type="http://schemas.openxmlformats.org/officeDocument/2006/relationships/theme" Target="/ppt/slideMasters/theme/theme2.xml" Id="Rf855612a69974af6" /><Relationship Type="http://schemas.openxmlformats.org/officeDocument/2006/relationships/slide" Target="/ppt/slides/slide1.xml" Id="R95ee6c45dc81402f" /><Relationship Type="http://schemas.openxmlformats.org/officeDocument/2006/relationships/slide" Target="/ppt/slides/slide2.xml" Id="Rf9a5f8f3e8034d24" /><Relationship Type="http://schemas.openxmlformats.org/officeDocument/2006/relationships/slide" Target="/ppt/slides/slide3.xml" Id="R4c5778c5522d4adf" /><Relationship Type="http://schemas.openxmlformats.org/officeDocument/2006/relationships/slide" Target="/ppt/slides/slide4.xml" Id="R40c0cdb209e345e6" /><Relationship Type="http://schemas.openxmlformats.org/officeDocument/2006/relationships/slide" Target="/ppt/slides/slide5.xml" Id="Rf559834e8818492b" /><Relationship Type="http://schemas.openxmlformats.org/officeDocument/2006/relationships/slide" Target="/ppt/slides/slide6.xml" Id="R1687a12802234dd9" /><Relationship Type="http://schemas.openxmlformats.org/officeDocument/2006/relationships/slide" Target="/ppt/slides/slide7.xml" Id="Rddbe372f1ee4401a" /><Relationship Type="http://schemas.openxmlformats.org/officeDocument/2006/relationships/slide" Target="/ppt/slides/slide8.xml" Id="R5e10df3145594525" /><Relationship Type="http://schemas.openxmlformats.org/officeDocument/2006/relationships/slide" Target="/ppt/slides/slide9.xml" Id="R50b093ad4ad84172" /><Relationship Type="http://schemas.openxmlformats.org/officeDocument/2006/relationships/slide" Target="/ppt/slides/slide10.xml" Id="R0cd63f9ff52144a5" /><Relationship Type="http://schemas.openxmlformats.org/officeDocument/2006/relationships/slide" Target="/ppt/slides/slide11.xml" Id="Rd999a1ca0b2946df" /><Relationship Type="http://schemas.openxmlformats.org/officeDocument/2006/relationships/slide" Target="/ppt/slides/slide12.xml" Id="R577f714b37e8493e" /><Relationship Type="http://schemas.openxmlformats.org/officeDocument/2006/relationships/slide" Target="/ppt/slides/slide13.xml" Id="Re706f7063d6f48c4" /><Relationship Type="http://schemas.openxmlformats.org/officeDocument/2006/relationships/slide" Target="/ppt/slides/slide14.xml" Id="R20d7983c03e54aa0" /><Relationship Type="http://schemas.openxmlformats.org/officeDocument/2006/relationships/slide" Target="/ppt/slides/slide15.xml" Id="R03f47d8bbd6347d6" /><Relationship Type="http://schemas.openxmlformats.org/officeDocument/2006/relationships/slide" Target="/ppt/slides/slide16.xml" Id="R6291902538cc458e" /><Relationship Type="http://schemas.openxmlformats.org/officeDocument/2006/relationships/slide" Target="/ppt/slides/slide17.xml" Id="R2d3cc05776ca4395" /><Relationship Type="http://schemas.openxmlformats.org/officeDocument/2006/relationships/slide" Target="/ppt/slides/slide18.xml" Id="R81571fb8ed5c4179" /><Relationship Type="http://schemas.openxmlformats.org/officeDocument/2006/relationships/slide" Target="/ppt/slides/slide19.xml" Id="R03ae84e4493c4ec8" /><Relationship Type="http://schemas.openxmlformats.org/officeDocument/2006/relationships/slide" Target="/ppt/slides/slide20.xml" Id="R2b32199b47294241" /><Relationship Type="http://schemas.openxmlformats.org/officeDocument/2006/relationships/slide" Target="/ppt/slides/slide21.xml" Id="R7c43bd2717094ba2" /><Relationship Type="http://schemas.openxmlformats.org/officeDocument/2006/relationships/slide" Target="/ppt/slides/slide22.xml" Id="R1df0fc1227be482c" /><Relationship Type="http://schemas.openxmlformats.org/officeDocument/2006/relationships/slide" Target="/ppt/slides/slide23.xml" Id="Rdaf4c843bfce47f4" /><Relationship Type="http://schemas.openxmlformats.org/officeDocument/2006/relationships/slide" Target="/ppt/slides/slide24.xml" Id="Rd5b0d415907b4bb8" /><Relationship Type="http://schemas.openxmlformats.org/officeDocument/2006/relationships/slide" Target="/ppt/slides/slide25.xml" Id="R838a1facc4f449b4" /><Relationship Type="http://schemas.openxmlformats.org/officeDocument/2006/relationships/slide" Target="/ppt/slides/slide26.xml" Id="Rba54247e00b64068" /><Relationship Type="http://schemas.openxmlformats.org/officeDocument/2006/relationships/slideMaster" Target="/ppt/slideMasters/slideMaster2.xml" Id="R94716b859302413d" /><Relationship Type="http://schemas.openxmlformats.org/officeDocument/2006/relationships/slide" Target="/ppt/slides/slide27.xml" Id="Rbc61718679394a17" /><Relationship Type="http://schemas.openxmlformats.org/officeDocument/2006/relationships/slide" Target="/ppt/slides/slide28.xml" Id="R5446be7848dd421b" /><Relationship Type="http://schemas.openxmlformats.org/officeDocument/2006/relationships/slide" Target="/ppt/slides/slide29.xml" Id="R6bb3a8638ad5469d" /><Relationship Type="http://schemas.openxmlformats.org/officeDocument/2006/relationships/slide" Target="/ppt/slides/slide30.xml" Id="R4e716bc64d1b4173" /><Relationship Type="http://schemas.openxmlformats.org/officeDocument/2006/relationships/slide" Target="/ppt/slides/slide31.xml" Id="Rf1319d4d220c43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e4a4918084554f6a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fe30b755d54366" /><Relationship Type="http://schemas.openxmlformats.org/officeDocument/2006/relationships/notesMaster" Target="/ppt/notesMasters/notesMaster1.xml" Id="R15ca7b2f2c5e40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ab2f0181d74cb0" /><Relationship Type="http://schemas.openxmlformats.org/officeDocument/2006/relationships/notesMaster" Target="/ppt/notesMasters/notesMaster1.xml" Id="R6e88fdc29d6641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fbcd22f79e4689" /><Relationship Type="http://schemas.openxmlformats.org/officeDocument/2006/relationships/notesMaster" Target="/ppt/notesMasters/notesMaster1.xml" Id="Rd3691302c4a74b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36f8b63b5b440b" /><Relationship Type="http://schemas.openxmlformats.org/officeDocument/2006/relationships/notesMaster" Target="/ppt/notesMasters/notesMaster1.xml" Id="R037d0adbf0df4f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a593db47e5410d" /><Relationship Type="http://schemas.openxmlformats.org/officeDocument/2006/relationships/notesMaster" Target="/ppt/notesMasters/notesMaster1.xml" Id="R50a2b9f38e0e45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fee49b19274e4b" /><Relationship Type="http://schemas.openxmlformats.org/officeDocument/2006/relationships/notesMaster" Target="/ppt/notesMasters/notesMaster1.xml" Id="R94c77c6facd64c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3b07966ff94b66" /><Relationship Type="http://schemas.openxmlformats.org/officeDocument/2006/relationships/notesMaster" Target="/ppt/notesMasters/notesMaster1.xml" Id="R4d74f64233be4e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ddb8be44514e7e" /><Relationship Type="http://schemas.openxmlformats.org/officeDocument/2006/relationships/notesMaster" Target="/ppt/notesMasters/notesMaster1.xml" Id="R4e36fd0dc99e4e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ce431e04834a75" /><Relationship Type="http://schemas.openxmlformats.org/officeDocument/2006/relationships/notesMaster" Target="/ppt/notesMasters/notesMaster1.xml" Id="Rfb17bfb626ca43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78741f4196409e" /><Relationship Type="http://schemas.openxmlformats.org/officeDocument/2006/relationships/notesMaster" Target="/ppt/notesMasters/notesMaster1.xml" Id="R3c83c14e69e842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e0c0b98e1e4b0f" /><Relationship Type="http://schemas.openxmlformats.org/officeDocument/2006/relationships/notesMaster" Target="/ppt/notesMasters/notesMaster1.xml" Id="R16ced91fa48646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fe6a8c7e2e484d" /><Relationship Type="http://schemas.openxmlformats.org/officeDocument/2006/relationships/notesMaster" Target="/ppt/notesMasters/notesMaster1.xml" Id="Ra9d40e13a5a246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39011b686a4e80" /><Relationship Type="http://schemas.openxmlformats.org/officeDocument/2006/relationships/notesMaster" Target="/ppt/notesMasters/notesMaster1.xml" Id="Rbce8967197bd445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4ff1f1b8024852" /><Relationship Type="http://schemas.openxmlformats.org/officeDocument/2006/relationships/notesMaster" Target="/ppt/notesMasters/notesMaster1.xml" Id="Ra9b625a258464dd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babd42ff43546ed" /><Relationship Type="http://schemas.openxmlformats.org/officeDocument/2006/relationships/notesMaster" Target="/ppt/notesMasters/notesMaster1.xml" Id="R01dd9025206e4ef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5cec82b9db34b32" /><Relationship Type="http://schemas.openxmlformats.org/officeDocument/2006/relationships/notesMaster" Target="/ppt/notesMasters/notesMaster1.xml" Id="R9cd67e839e4a4c7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dbeda1f0d4b4605" /><Relationship Type="http://schemas.openxmlformats.org/officeDocument/2006/relationships/notesMaster" Target="/ppt/notesMasters/notesMaster1.xml" Id="Rf221cff816674a1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da6967e7534433e" /><Relationship Type="http://schemas.openxmlformats.org/officeDocument/2006/relationships/notesMaster" Target="/ppt/notesMasters/notesMaster1.xml" Id="R3e9d94f83556415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954a23927514bfa" /><Relationship Type="http://schemas.openxmlformats.org/officeDocument/2006/relationships/notesMaster" Target="/ppt/notesMasters/notesMaster1.xml" Id="Re68552bb12db484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643dc8674fe47e7" /><Relationship Type="http://schemas.openxmlformats.org/officeDocument/2006/relationships/notesMaster" Target="/ppt/notesMasters/notesMaster1.xml" Id="R5330e5f8531e463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77f6813667745eb" /><Relationship Type="http://schemas.openxmlformats.org/officeDocument/2006/relationships/notesMaster" Target="/ppt/notesMasters/notesMaster1.xml" Id="R6d688b63959c4ce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86e8eba99724211" /><Relationship Type="http://schemas.openxmlformats.org/officeDocument/2006/relationships/notesMaster" Target="/ppt/notesMasters/notesMaster1.xml" Id="R64f7a3e026554c0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b950a6fb2c6434f" /><Relationship Type="http://schemas.openxmlformats.org/officeDocument/2006/relationships/notesMaster" Target="/ppt/notesMasters/notesMaster1.xml" Id="Rc71cabaf8be44f8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a60ed6746ab4914" /><Relationship Type="http://schemas.openxmlformats.org/officeDocument/2006/relationships/notesMaster" Target="/ppt/notesMasters/notesMaster1.xml" Id="R9b480e16fcfd4bd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9f4a9860e51459b" /><Relationship Type="http://schemas.openxmlformats.org/officeDocument/2006/relationships/notesMaster" Target="/ppt/notesMasters/notesMaster1.xml" Id="Rf95203f9691a4d4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bd771776ade415f" /><Relationship Type="http://schemas.openxmlformats.org/officeDocument/2006/relationships/notesMaster" Target="/ppt/notesMasters/notesMaster1.xml" Id="R2ba99f4902d84b1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61b7d837a224b8d" /><Relationship Type="http://schemas.openxmlformats.org/officeDocument/2006/relationships/notesMaster" Target="/ppt/notesMasters/notesMaster1.xml" Id="Re2029df92ead4d2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fa7083650534d4b" /><Relationship Type="http://schemas.openxmlformats.org/officeDocument/2006/relationships/notesMaster" Target="/ppt/notesMasters/notesMaster1.xml" Id="R38585aaaa1e948a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cf242cfd67c4836" /><Relationship Type="http://schemas.openxmlformats.org/officeDocument/2006/relationships/notesMaster" Target="/ppt/notesMasters/notesMaster1.xml" Id="R4452286998b641e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c7dacfc87da4ac2" /><Relationship Type="http://schemas.openxmlformats.org/officeDocument/2006/relationships/notesMaster" Target="/ppt/notesMasters/notesMaster1.xml" Id="R7581a7f4e9c8454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e7312d91519454e" /><Relationship Type="http://schemas.openxmlformats.org/officeDocument/2006/relationships/notesMaster" Target="/ppt/notesMasters/notesMaster1.xml" Id="R320f515552474feb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c00b172c3d4d6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fc9cfc4532845d7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3702030e824d95" /><Relationship Type="http://schemas.openxmlformats.org/officeDocument/2006/relationships/slideLayout" Target="/ppt/slideLayouts/slideLayout1.xml" Id="R07cc18a0467d4a3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e8343e7e6504386" /><Relationship Type="http://schemas.openxmlformats.org/officeDocument/2006/relationships/slideLayout" Target="/ppt/slideLayouts/slideLayout2.xml" Id="Rc2a682d5dd0845fe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07cc18a0467d4a3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c2a682d5dd0845fe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notesSlide" Target="/ppt/notesSlides/notesSlide1.xml" Id="Rb1ba17841c9a45b9" /><Relationship Type="http://schemas.openxmlformats.org/officeDocument/2006/relationships/slideLayout" Target="/ppt/slideLayouts/slideLayout1.xml" Id="Rb7a9b4565b724b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.png" Id="Rce97b5fa7cfe4844" /><Relationship Type="http://schemas.openxmlformats.org/officeDocument/2006/relationships/image" Target="/ppt/media/image2.png" Id="Ra126b634ddcd4fe3" /><Relationship Type="http://schemas.openxmlformats.org/officeDocument/2006/relationships/notesSlide" Target="/ppt/notesSlides/notesSlide2.xml" Id="R12a66ae642554af7" /><Relationship Type="http://schemas.openxmlformats.org/officeDocument/2006/relationships/slideLayout" Target="/ppt/slideLayouts/slideLayout1.xml" Id="R7ebbcc8c140940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3.png" Id="R9406c5e2402146b4" /><Relationship Type="http://schemas.openxmlformats.org/officeDocument/2006/relationships/notesSlide" Target="/ppt/notesSlides/notesSlide3.xml" Id="Rff69ea7e47a846c0" /><Relationship Type="http://schemas.openxmlformats.org/officeDocument/2006/relationships/slideLayout" Target="/ppt/slideLayouts/slideLayout1.xml" Id="Rfc5bc415cbc344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4.png" Id="R833f6fab8ad74d0c" /><Relationship Type="http://schemas.openxmlformats.org/officeDocument/2006/relationships/notesSlide" Target="/ppt/notesSlides/notesSlide4.xml" Id="Re345327dcfa845dc" /><Relationship Type="http://schemas.openxmlformats.org/officeDocument/2006/relationships/slideLayout" Target="/ppt/slideLayouts/slideLayout1.xml" Id="R316415f866694e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5.png" Id="R6c47efe301e74d56" /><Relationship Type="http://schemas.openxmlformats.org/officeDocument/2006/relationships/notesSlide" Target="/ppt/notesSlides/notesSlide5.xml" Id="R551f0a7faa7e4911" /><Relationship Type="http://schemas.openxmlformats.org/officeDocument/2006/relationships/slideLayout" Target="/ppt/slideLayouts/slideLayout1.xml" Id="Rf878c004236b46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6.png" Id="Rd8dea5f6e7bc47f6" /><Relationship Type="http://schemas.openxmlformats.org/officeDocument/2006/relationships/image" Target="/ppt/media/image2.png" Id="R832e5b046a8f4c0a" /><Relationship Type="http://schemas.openxmlformats.org/officeDocument/2006/relationships/notesSlide" Target="/ppt/notesSlides/notesSlide6.xml" Id="R3da18517f5ba457e" /><Relationship Type="http://schemas.openxmlformats.org/officeDocument/2006/relationships/slideLayout" Target="/ppt/slideLayouts/slideLayout1.xml" Id="R1653775245e94b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notesSlide" Target="/ppt/notesSlides/notesSlide7.xml" Id="R7fe33fbf7f8f41ff" /><Relationship Type="http://schemas.openxmlformats.org/officeDocument/2006/relationships/slideLayout" Target="/ppt/slideLayouts/slideLayout1.xml" Id="Rec468ccbd76a49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7.png" Id="R53ed08ecc8764a29" /><Relationship Type="http://schemas.openxmlformats.org/officeDocument/2006/relationships/notesSlide" Target="/ppt/notesSlides/notesSlide8.xml" Id="R0bba690a14b443d8" /><Relationship Type="http://schemas.openxmlformats.org/officeDocument/2006/relationships/slideLayout" Target="/ppt/slideLayouts/slideLayout1.xml" Id="R115ea99346ce41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8.png" Id="R45e0b99733584455" /><Relationship Type="http://schemas.openxmlformats.org/officeDocument/2006/relationships/image" Target="/ppt/media/image9.png" Id="R6574ecae727e428e" /><Relationship Type="http://schemas.openxmlformats.org/officeDocument/2006/relationships/notesSlide" Target="/ppt/notesSlides/notesSlide9.xml" Id="R58bfcd5f4d374423" /><Relationship Type="http://schemas.openxmlformats.org/officeDocument/2006/relationships/slideLayout" Target="/ppt/slideLayouts/slideLayout1.xml" Id="R807771d3c5f942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10.png" Id="R47334bf2ee35461f" /><Relationship Type="http://schemas.openxmlformats.org/officeDocument/2006/relationships/image" Target="/ppt/media/image5.png" Id="R5eebec3ca0a34c1f" /><Relationship Type="http://schemas.openxmlformats.org/officeDocument/2006/relationships/notesSlide" Target="/ppt/notesSlides/notesSlide10.xml" Id="R74f1181d30624336" /><Relationship Type="http://schemas.openxmlformats.org/officeDocument/2006/relationships/slideLayout" Target="/ppt/slideLayouts/slideLayout1.xml" Id="Ra1354cbcd8da40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3.png" Id="R0987c33ed0b443e2" /><Relationship Type="http://schemas.openxmlformats.org/officeDocument/2006/relationships/image" Target="/ppt/media/image11.png" Id="R86eb73ab9dbc4a81" /><Relationship Type="http://schemas.openxmlformats.org/officeDocument/2006/relationships/image" Target="/ppt/media/image12.png" Id="R3910f0bc25684c63" /><Relationship Type="http://schemas.openxmlformats.org/officeDocument/2006/relationships/notesSlide" Target="/ppt/notesSlides/notesSlide11.xml" Id="Rfde869e091324831" /><Relationship Type="http://schemas.openxmlformats.org/officeDocument/2006/relationships/slideLayout" Target="/ppt/slideLayouts/slideLayout1.xml" Id="R26eddd87e5a544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13.png" Id="Rd7a26ab5e4d84e9a" /><Relationship Type="http://schemas.openxmlformats.org/officeDocument/2006/relationships/image" Target="/ppt/media/image14.png" Id="R27fe3dd4254c467d" /><Relationship Type="http://schemas.openxmlformats.org/officeDocument/2006/relationships/image" Target="/ppt/media/image15.png" Id="R13df9b763d2e48ca" /><Relationship Type="http://schemas.openxmlformats.org/officeDocument/2006/relationships/image" Target="/ppt/media/image16.png" Id="Rc9845c9bd3134d3b" /><Relationship Type="http://schemas.openxmlformats.org/officeDocument/2006/relationships/notesSlide" Target="/ppt/notesSlides/notesSlide12.xml" Id="R221a8b216e134899" /><Relationship Type="http://schemas.openxmlformats.org/officeDocument/2006/relationships/slideLayout" Target="/ppt/slideLayouts/slideLayout1.xml" Id="R4e0a05ca860343c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3.png" Id="R4d060f61c4dc49f6" /><Relationship Type="http://schemas.openxmlformats.org/officeDocument/2006/relationships/notesSlide" Target="/ppt/notesSlides/notesSlide13.xml" Id="R6c2965b991974e2f" /><Relationship Type="http://schemas.openxmlformats.org/officeDocument/2006/relationships/slideLayout" Target="/ppt/slideLayouts/slideLayout1.xml" Id="R99d79a7742464af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17.png" Id="R6d3e239bcaeb4664" /><Relationship Type="http://schemas.openxmlformats.org/officeDocument/2006/relationships/image" Target="/ppt/media/image18.png" Id="R36387780d3a74f4f" /><Relationship Type="http://schemas.openxmlformats.org/officeDocument/2006/relationships/image" Target="/ppt/media/image5.png" Id="R268a2f28552c43c5" /><Relationship Type="http://schemas.openxmlformats.org/officeDocument/2006/relationships/notesSlide" Target="/ppt/notesSlides/notesSlide14.xml" Id="R74c500c3cdb2402e" /><Relationship Type="http://schemas.openxmlformats.org/officeDocument/2006/relationships/slideLayout" Target="/ppt/slideLayouts/slideLayout1.xml" Id="R515c8724d7ca41e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19.png" Id="R62f819e3875240ec" /><Relationship Type="http://schemas.openxmlformats.org/officeDocument/2006/relationships/notesSlide" Target="/ppt/notesSlides/notesSlide15.xml" Id="R0c086ff957cd451a" /><Relationship Type="http://schemas.openxmlformats.org/officeDocument/2006/relationships/slideLayout" Target="/ppt/slideLayouts/slideLayout1.xml" Id="R5900d70175c6465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notesSlide" Target="/ppt/notesSlides/notesSlide16.xml" Id="R161075015b55438a" /><Relationship Type="http://schemas.openxmlformats.org/officeDocument/2006/relationships/slideLayout" Target="/ppt/slideLayouts/slideLayout1.xml" Id="R7e91b586a7714fe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20.png" Id="Rc7d4d93cbce04838" /><Relationship Type="http://schemas.openxmlformats.org/officeDocument/2006/relationships/image" Target="/ppt/media/image5.png" Id="R6b7d14ce2b8e4ebc" /><Relationship Type="http://schemas.openxmlformats.org/officeDocument/2006/relationships/notesSlide" Target="/ppt/notesSlides/notesSlide17.xml" Id="R3a6549bc20e34abc" /><Relationship Type="http://schemas.openxmlformats.org/officeDocument/2006/relationships/slideLayout" Target="/ppt/slideLayouts/slideLayout1.xml" Id="R23b1ea67a293420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notesSlide" Target="/ppt/notesSlides/notesSlide18.xml" Id="R5e62cc74c00445e0" /><Relationship Type="http://schemas.openxmlformats.org/officeDocument/2006/relationships/slideLayout" Target="/ppt/slideLayouts/slideLayout1.xml" Id="R3f7bdb4cc76b41a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image" Target="/ppt/media/image21.png" Id="R492bb0fbb27e46e3" /><Relationship Type="http://schemas.openxmlformats.org/officeDocument/2006/relationships/notesSlide" Target="/ppt/notesSlides/notesSlide19.xml" Id="R7ad828fb6c034976" /><Relationship Type="http://schemas.openxmlformats.org/officeDocument/2006/relationships/slideLayout" Target="/ppt/slideLayouts/slideLayout1.xml" Id="R1a5d324ebeef406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notesSlide" Target="/ppt/notesSlides/notesSlide20.xml" Id="R00ec113454d24d3b" /><Relationship Type="http://schemas.openxmlformats.org/officeDocument/2006/relationships/slideLayout" Target="/ppt/slideLayouts/slideLayout1.xml" Id="Rfd1b03e91a7c4f6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image" Target="/ppt/media/image4.png" Id="Ra3faa6b411554c29" /><Relationship Type="http://schemas.openxmlformats.org/officeDocument/2006/relationships/notesSlide" Target="/ppt/notesSlides/notesSlide21.xml" Id="R00d35b53ef274bf3" /><Relationship Type="http://schemas.openxmlformats.org/officeDocument/2006/relationships/slideLayout" Target="/ppt/slideLayouts/slideLayout1.xml" Id="R3d2bdeb29e9449e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image" Target="/ppt/media/image22.png" Id="R898d3fd6ba434ad5" /><Relationship Type="http://schemas.openxmlformats.org/officeDocument/2006/relationships/notesSlide" Target="/ppt/notesSlides/notesSlide22.xml" Id="Rd70a99b5e087463b" /><Relationship Type="http://schemas.openxmlformats.org/officeDocument/2006/relationships/slideLayout" Target="/ppt/slideLayouts/slideLayout1.xml" Id="R475affbfa22541a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notesSlide" Target="/ppt/notesSlides/notesSlide23.xml" Id="R9d6c26102dc340d4" /><Relationship Type="http://schemas.openxmlformats.org/officeDocument/2006/relationships/slideLayout" Target="/ppt/slideLayouts/slideLayout1.xml" Id="R53379776372b4ed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notesSlide" Target="/ppt/notesSlides/notesSlide24.xml" Id="Rc39cd60c9cb946be" /><Relationship Type="http://schemas.openxmlformats.org/officeDocument/2006/relationships/slideLayout" Target="/ppt/slideLayouts/slideLayout1.xml" Id="Rd3daa1a78a154f2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notesSlide" Target="/ppt/notesSlides/notesSlide25.xml" Id="Rc9e5d5ecd3d14fac" /><Relationship Type="http://schemas.openxmlformats.org/officeDocument/2006/relationships/slideLayout" Target="/ppt/slideLayouts/slideLayout1.xml" Id="Rf01a985314964d9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image" Target="/ppt/media/image23.png" Id="R6ca48e3f326b4700" /><Relationship Type="http://schemas.openxmlformats.org/officeDocument/2006/relationships/notesSlide" Target="/ppt/notesSlides/notesSlide26.xml" Id="R1d1a1276737544a5" /><Relationship Type="http://schemas.openxmlformats.org/officeDocument/2006/relationships/slideLayout" Target="/ppt/slideLayouts/slideLayout1.xml" Id="R93fbc5685661404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image" Target="/ppt/media/image24.png" Id="R0406e46c09f14f54" /><Relationship Type="http://schemas.openxmlformats.org/officeDocument/2006/relationships/notesSlide" Target="/ppt/notesSlides/notesSlide27.xml" Id="R82d27a5429bc4f6e" /><Relationship Type="http://schemas.openxmlformats.org/officeDocument/2006/relationships/slideLayout" Target="/ppt/slideLayouts/slideLayout2.xml" Id="R3fe2c38f318d438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image" Target="/ppt/media/image25.png" Id="R47cc62bdbd39414b" /><Relationship Type="http://schemas.openxmlformats.org/officeDocument/2006/relationships/notesSlide" Target="/ppt/notesSlides/notesSlide28.xml" Id="Rfac6ce60fe744990" /><Relationship Type="http://schemas.openxmlformats.org/officeDocument/2006/relationships/slideLayout" Target="/ppt/slideLayouts/slideLayout2.xml" Id="R1fcfa5aeb5d6482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image" Target="/ppt/media/image26.png" Id="Rc55544ed9ed64557" /><Relationship Type="http://schemas.openxmlformats.org/officeDocument/2006/relationships/notesSlide" Target="/ppt/notesSlides/notesSlide29.xml" Id="Rce13091be39946c2" /><Relationship Type="http://schemas.openxmlformats.org/officeDocument/2006/relationships/slideLayout" Target="/ppt/slideLayouts/slideLayout2.xml" Id="R4f8c3a7b0bf845e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image" Target="/ppt/media/image27.png" Id="Ra8f644a1d2874132" /><Relationship Type="http://schemas.openxmlformats.org/officeDocument/2006/relationships/notesSlide" Target="/ppt/notesSlides/notesSlide30.xml" Id="R6315a16519c34471" /><Relationship Type="http://schemas.openxmlformats.org/officeDocument/2006/relationships/slideLayout" Target="/ppt/slideLayouts/slideLayout2.xml" Id="Rab97102ab48b429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image" Target="/ppt/media/image28.png" Id="R8f8560f3222746fa" /><Relationship Type="http://schemas.openxmlformats.org/officeDocument/2006/relationships/notesSlide" Target="/ppt/notesSlides/notesSlide31.xml" Id="R7a58fd4f790e4881" /><Relationship Type="http://schemas.openxmlformats.org/officeDocument/2006/relationships/slideLayout" Target="/ppt/slideLayouts/slideLayout2.xml" Id="Rfcc7631abb274af7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188720"/>
            <a:ext cx="4114800" cy="41148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E8A33D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EEG Motor-Imagery Classification (LEFT vs RIGHT)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Exploratory Data Analysis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25196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Progress Review  •  Graduation Project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89204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audit, artifact rejection strategy, and the first LEFT/RIGHT signal evidence from raw EEG.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852928" cy="310896"/>
          </a:xfrm>
          <a:prstGeom prst="roundRect">
            <a:avLst>
              <a:gd name="adj" fmla="val 50000"/>
            </a:avLst>
          </a:prstGeom>
          <a:solidFill>
            <a:srgbClr val="065A82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852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EDA stage covered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notebooks, run back-to-back, to answer one question: is this raw dataset trustworthy enough to build on?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5029200" cy="3794760"/>
          </a:xfrm>
          <a:prstGeom prst="roundRect">
            <a:avLst>
              <a:gd name="adj" fmla="val 241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5400000">
              <a:srgbClr val="63728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4688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/home/claude/icons/database_white.png">    </p:cNvPr>
          <p:cNvPicPr>
            <a:picLocks noChangeAspect="1"/>
          </p:cNvPicPr>
          <p:nvPr/>
        </p:nvPicPr>
        <p:blipFill>
          <a:blip r:embed="Rce97b5fa7cfe4844"/>
          <a:stretch>
            <a:fillRect/>
          </a:stretch>
        </p:blipFill>
        <p:spPr>
          <a:xfrm>
            <a:off x="914400" y="26060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2461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1 — Data Quality Audit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7240" y="4023360"/>
            <a:ext cx="4389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&amp; alignment of signals with labels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balance, trial length, missing values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anomalies &amp; artifact detection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943600" y="2148840"/>
            <a:ext cx="5029200" cy="3794760"/>
          </a:xfrm>
          <a:prstGeom prst="roundRect">
            <a:avLst>
              <a:gd name="adj" fmla="val 241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5400000">
              <a:srgbClr val="63728A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63640" y="24688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/home/claude/icons/activity_white.png">    </p:cNvPr>
          <p:cNvPicPr>
            <a:picLocks noChangeAspect="1"/>
          </p:cNvPicPr>
          <p:nvPr/>
        </p:nvPicPr>
        <p:blipFill>
          <a:blip r:embed="Ra126b634ddcd4fe3"/>
          <a:stretch>
            <a:fillRect/>
          </a:stretch>
        </p:blipFill>
        <p:spPr>
          <a:xfrm>
            <a:off x="6400800" y="26060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63640" y="32461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2 — Rejection Rule + PSD/ERD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263640" y="4023360"/>
            <a:ext cx="4389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artifact-rejection thresholds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a cross-validated rejection list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vs. filtered PSD, LEFT vs. RIGHT (C3/C4)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 — EDA Stage Review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065A82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snapshot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2,400 label rows were provided; 240 extra rows were dropped to align exactly with the 2,160 available signal files. Verified safe.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2487168" cy="1828800"/>
          </a:xfrm>
          <a:prstGeom prst="roundRect">
            <a:avLst>
              <a:gd name="adj" fmla="val 4500"/>
            </a:avLst>
          </a:prstGeom>
          <a:solidFill>
            <a:srgbClr val="F4F7F9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148840"/>
            <a:ext cx="2487168" cy="73152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404872"/>
            <a:ext cx="22128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2,160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94360" y="3108960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EEG trials</a:t>
            </a:r>
            <a:endParaRPr lang="en-US" sz="12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(after alignment)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0" y="2148840"/>
            <a:ext cx="2487168" cy="1828800"/>
          </a:xfrm>
          <a:prstGeom prst="roundRect">
            <a:avLst>
              <a:gd name="adj" fmla="val 4500"/>
            </a:avLst>
          </a:prstGeom>
          <a:solidFill>
            <a:srgbClr val="F4F7F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0" y="2148840"/>
            <a:ext cx="2487168" cy="73152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2404872"/>
            <a:ext cx="22128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1,082 / 1,078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37560" y="3108960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/ RIGHT trials</a:t>
            </a:r>
            <a:endParaRPr lang="en-US" sz="12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~50/50 balance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0" y="2148840"/>
            <a:ext cx="2487168" cy="1828800"/>
          </a:xfrm>
          <a:prstGeom prst="roundRect">
            <a:avLst>
              <a:gd name="adj" fmla="val 4500"/>
            </a:avLst>
          </a:prstGeom>
          <a:solidFill>
            <a:srgbClr val="F4F7F9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0" y="2148840"/>
            <a:ext cx="2487168" cy="73152"/>
          </a:xfrm>
          <a:prstGeom prst="roundRect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2404872"/>
            <a:ext cx="22128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080760" y="3108960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per trial</a:t>
            </a:r>
            <a:endParaRPr lang="en-US" sz="12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consistent across all 2,160 files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86800" y="2148840"/>
            <a:ext cx="2487168" cy="1828800"/>
          </a:xfrm>
          <a:prstGeom prst="roundRect">
            <a:avLst>
              <a:gd name="adj" fmla="val 4500"/>
            </a:avLst>
          </a:prstGeom>
          <a:solidFill>
            <a:srgbClr val="F4F7F9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0" y="2148840"/>
            <a:ext cx="2487168" cy="73152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8823960" y="2404872"/>
            <a:ext cx="22128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823960" y="3108960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(NaNs)</a:t>
            </a:r>
            <a:endParaRPr lang="en-US" sz="12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across the dataset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4251960"/>
            <a:ext cx="10881360" cy="1508760"/>
          </a:xfrm>
          <a:prstGeom prst="roundRect">
            <a:avLst>
              <a:gd name="adj" fmla="val 6061"/>
            </a:avLst>
          </a:prstGeom>
          <a:solidFill>
            <a:srgbClr val="EAF3EE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4681728"/>
            <a:ext cx="640080" cy="64008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4" name="Image 0" descr="/home/claude/icons/check_white.png">    </p:cNvPr>
          <p:cNvPicPr>
            <a:picLocks noChangeAspect="1"/>
          </p:cNvPicPr>
          <p:nvPr/>
        </p:nvPicPr>
        <p:blipFill>
          <a:blip r:embed="R9406c5e2402146b4"/>
          <a:stretch>
            <a:fillRect/>
          </a:stretch>
        </p:blipFill>
        <p:spPr>
          <a:xfrm>
            <a:off x="914400" y="4818888"/>
            <a:ext cx="365760" cy="3657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691640" y="448056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on every structural check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691640" y="489204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C5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flat / dead channels across the whole dataset  •  Every trial has the exact same length  •  Class balance is not biased toward either label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 — EDA Stage Review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12848" cy="310896"/>
          </a:xfrm>
          <a:prstGeom prst="roundRect">
            <a:avLst>
              <a:gd name="adj" fmla="val 50000"/>
            </a:avLst>
          </a:prstGeom>
          <a:solidFill>
            <a:srgbClr val="C25B1E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25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ISSUE #1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Sampling rate is still unconfirmed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6400800" cy="4434840"/>
          </a:xfrm>
          <a:prstGeom prst="roundRect">
            <a:avLst>
              <a:gd name="adj" fmla="val 2062"/>
            </a:avLst>
          </a:prstGeom>
          <a:solidFill>
            <a:srgbClr val="F4F7F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57607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column inside each trial file does not tick at a steady interval — the gaps between readings jump around instead of staying constant.</a:t>
            </a:r>
            <a:endParaRPr lang="en-US" sz="1400" dirty="0"/>
          </a:p>
          <a:p>
            <a:pPr indent="0" marL="0">
              <a:lnSpc>
                <a:spcPts val="2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means the true sampling rate cannot be safely calculated directly from this column.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currently running all filtering and PSD code against a placeholder of fs = 250 Hz, purely to keep development moving.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86600" y="1600200"/>
            <a:ext cx="4251960" cy="4434840"/>
          </a:xfrm>
          <a:prstGeom prst="roundRect">
            <a:avLst>
              <a:gd name="adj" fmla="val 2151"/>
            </a:avLst>
          </a:prstGeom>
          <a:solidFill>
            <a:srgbClr val="C25B1E">
              <a:alpha val="10000"/>
            </a:srgbClr>
          </a:solidFill>
          <a:ln w="12700">
            <a:solidFill>
              <a:srgbClr val="C25B1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60920" y="1874520"/>
            <a:ext cx="548640" cy="548640"/>
          </a:xfrm>
          <a:prstGeom prst="ellipse">
            <a:avLst/>
          </a:prstGeom>
          <a:solidFill>
            <a:srgbClr val="C25B1E"/>
          </a:solidFill>
          <a:ln/>
        </p:spPr>
      </p:sp>
      <p:pic>
        <p:nvPicPr>
          <p:cNvPr id="10" name="Image 0" descr="/home/claude/icons/help_white.png">    </p:cNvPr>
          <p:cNvPicPr>
            <a:picLocks noChangeAspect="1"/>
          </p:cNvPicPr>
          <p:nvPr/>
        </p:nvPicPr>
        <p:blipFill>
          <a:blip r:embed="R833f6fab8ad74d0c"/>
          <a:stretch>
            <a:fillRect/>
          </a:stretch>
        </p:blipFill>
        <p:spPr>
          <a:xfrm>
            <a:off x="7479792" y="1993392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01000" y="1920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5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for the instructor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60920" y="2606040"/>
            <a:ext cx="3794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5A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downstream step depends on fs: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Band-pass filter design (8–30 Hz)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PSD / Welch frequency axis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epoching or timing alignment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5A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the device's true fs confirmed before we finalize preprocessing next week.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 — EDA Stage Review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12848" cy="310896"/>
          </a:xfrm>
          <a:prstGeom prst="roundRect">
            <a:avLst>
              <a:gd name="adj" fmla="val 50000"/>
            </a:avLst>
          </a:prstGeom>
          <a:solidFill>
            <a:srgbClr val="065A82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CHECK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C3 vs. C4: an unusual similarity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and C4 are the two motor-cortex channels that should differ the most — that difference is literally what separates LEFT from RIGHT.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291840" cy="3794760"/>
          </a:xfrm>
          <a:prstGeom prst="roundRect">
            <a:avLst>
              <a:gd name="adj" fmla="val 2778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688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85800" y="34290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trials show C3 and C4 behaving almost identically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4480560"/>
            <a:ext cx="2560320" cy="0"/>
          </a:xfrm>
          <a:prstGeom prst="line">
            <a:avLst/>
          </a:prstGeom>
          <a:noFill/>
          <a:ln w="12700">
            <a:solidFill>
              <a:srgbClr val="3D7C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617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495 vs. 492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" y="50749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almost evenly across LEFT / RIGHT — not biased toward one class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023360" y="2103120"/>
            <a:ext cx="6766560" cy="1691640"/>
          </a:xfrm>
          <a:prstGeom prst="roundRect">
            <a:avLst>
              <a:gd name="adj" fmla="val 5405"/>
            </a:avLst>
          </a:prstGeom>
          <a:solidFill>
            <a:srgbClr val="F4F7F9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228600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tested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97680" y="2651760"/>
            <a:ext cx="6217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this was a real hardware fault (e.g. cross-talk between electrodes) or an artifact of unfiltered raw noise.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023360" y="3931920"/>
            <a:ext cx="6766560" cy="1965960"/>
          </a:xfrm>
          <a:prstGeom prst="roundRect">
            <a:avLst>
              <a:gd name="adj" fmla="val 4651"/>
            </a:avLst>
          </a:prstGeom>
          <a:solidFill>
            <a:srgbClr val="EAF3EE"/>
          </a:solidFill>
          <a:ln/>
        </p:spPr>
      </p:sp>
      <p:pic>
        <p:nvPicPr>
          <p:cNvPr id="16" name="Image 0" descr="/home/claude/icons/check_midnight.png">    </p:cNvPr>
          <p:cNvPicPr>
            <a:picLocks noChangeAspect="1"/>
          </p:cNvPicPr>
          <p:nvPr/>
        </p:nvPicPr>
        <p:blipFill>
          <a:blip r:embed="R6c47efe301e74d56"/>
          <a:stretch>
            <a:fillRect/>
          </a:stretch>
        </p:blipFill>
        <p:spPr>
          <a:xfrm>
            <a:off x="4297680" y="4114800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709160" y="4078224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Likely cause: low-frequency drift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297680" y="4526280"/>
            <a:ext cx="6309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C5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Low-frequency drift dominates the raw signal and masks the real C3/C4 difference. A proper band-pass filter later should mostly resolve it. Not confirmed as a hardware fault.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 — EDA Stage Review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852928" cy="310896"/>
          </a:xfrm>
          <a:prstGeom prst="roundRect">
            <a:avLst>
              <a:gd name="adj" fmla="val 50000"/>
            </a:avLst>
          </a:prstGeom>
          <a:solidFill>
            <a:srgbClr val="065A82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852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DETECTION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independent artifact checks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120640" cy="2834640"/>
          </a:xfrm>
          <a:prstGeom prst="roundRect">
            <a:avLst>
              <a:gd name="adj" fmla="val 3226"/>
            </a:avLst>
          </a:prstGeom>
          <a:solidFill>
            <a:srgbClr val="F4F7F9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9659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icons/zap_white.png">    </p:cNvPr>
          <p:cNvPicPr>
            <a:picLocks noChangeAspect="1"/>
          </p:cNvPicPr>
          <p:nvPr/>
        </p:nvPicPr>
        <p:blipFill>
          <a:blip r:embed="Rd8dea5f6e7bc47f6"/>
          <a:stretch>
            <a:fillRect/>
          </a:stretch>
        </p:blipFill>
        <p:spPr>
          <a:xfrm>
            <a:off x="859536" y="209397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98424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#1 — Extreme variability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2651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swings far outside its normal range within a trial.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1520" y="3200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398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31520" y="38404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instances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108960" y="3200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187 trials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108960" y="3749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8.7% of the dataset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035040" y="1691640"/>
            <a:ext cx="5120640" cy="2834640"/>
          </a:xfrm>
          <a:prstGeom prst="roundRect">
            <a:avLst>
              <a:gd name="adj" fmla="val 3226"/>
            </a:avLst>
          </a:prstGeom>
          <a:solidFill>
            <a:srgbClr val="F4F7F9"/>
          </a:solidFill>
          <a:ln/>
        </p:spPr>
      </p:sp>
      <p:sp>
        <p:nvSpPr>
          <p:cNvPr id="15" name="Shape 12"/>
          <p:cNvSpPr/>
          <p:nvPr/>
        </p:nvSpPr>
        <p:spPr>
          <a:xfrm>
            <a:off x="6309360" y="1965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/home/claude/icons/activity_white.png">    </p:cNvPr>
          <p:cNvPicPr>
            <a:picLocks noChangeAspect="1"/>
          </p:cNvPicPr>
          <p:nvPr/>
        </p:nvPicPr>
        <p:blipFill>
          <a:blip r:embed="R832e5b046a8f4c0a"/>
          <a:stretch>
            <a:fillRect/>
          </a:stretch>
        </p:blipFill>
        <p:spPr>
          <a:xfrm>
            <a:off x="6437376" y="2093976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995160" y="198424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#2 — Sudden jump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309360" y="2651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large abrupt spike anywhere in the recording.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309360" y="3200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341</a:t>
            </a:r>
            <a:endParaRPr lang="en-US" sz="3400" dirty="0"/>
          </a:p>
        </p:txBody>
      </p:sp>
      <p:sp>
        <p:nvSpPr>
          <p:cNvPr id="20" name="Text 16"/>
          <p:cNvSpPr/>
          <p:nvPr/>
        </p:nvSpPr>
        <p:spPr>
          <a:xfrm>
            <a:off x="6309360" y="384048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instances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momentary electrode contact loss)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57200" y="4709160"/>
            <a:ext cx="10607040" cy="1417320"/>
          </a:xfrm>
          <a:prstGeom prst="roundRect">
            <a:avLst>
              <a:gd name="adj" fmla="val 6452"/>
            </a:avLst>
          </a:prstGeom>
          <a:solidFill>
            <a:srgbClr val="21295C"/>
          </a:solidFill>
          <a:ln/>
        </p:spPr>
      </p:sp>
      <p:sp>
        <p:nvSpPr>
          <p:cNvPr id="22" name="Text 18"/>
          <p:cNvSpPr/>
          <p:nvPr/>
        </p:nvSpPr>
        <p:spPr>
          <a:xfrm>
            <a:off x="731520" y="48463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in both checks — channel ranking by noisiness: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577840" y="4892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</a:t>
            </a:r>
            <a:endParaRPr lang="en-US" sz="1900" dirty="0"/>
          </a:p>
        </p:txBody>
      </p:sp>
      <p:sp>
        <p:nvSpPr>
          <p:cNvPr id="24" name="Text 20"/>
          <p:cNvSpPr/>
          <p:nvPr/>
        </p:nvSpPr>
        <p:spPr>
          <a:xfrm>
            <a:off x="5577840" y="5394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7132320" y="4965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C8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7589520" y="4892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FZ</a:t>
            </a:r>
            <a:endParaRPr lang="en-US" sz="1900" dirty="0"/>
          </a:p>
        </p:txBody>
      </p:sp>
      <p:sp>
        <p:nvSpPr>
          <p:cNvPr id="27" name="Text 23"/>
          <p:cNvSpPr/>
          <p:nvPr/>
        </p:nvSpPr>
        <p:spPr>
          <a:xfrm>
            <a:off x="7589520" y="5394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9144000" y="4965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C8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9601200" y="4892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C3 / C4</a:t>
            </a:r>
            <a:endParaRPr lang="en-US" sz="1900" dirty="0"/>
          </a:p>
        </p:txBody>
      </p:sp>
      <p:sp>
        <p:nvSpPr>
          <p:cNvPr id="30" name="Text 26"/>
          <p:cNvSpPr/>
          <p:nvPr/>
        </p:nvSpPr>
        <p:spPr>
          <a:xfrm>
            <a:off x="9601200" y="5394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Calmest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 — EDA Stage Review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96896" cy="310896"/>
          </a:xfrm>
          <a:prstGeom prst="roundRect">
            <a:avLst>
              <a:gd name="adj" fmla="val 50000"/>
            </a:avLst>
          </a:prstGeom>
          <a:solidFill>
            <a:srgbClr val="065A82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DECISION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 high-confidence bad trials — how do we handle them?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by BOTH independent artifact checks — two separate tests agreeing is a strong signal. Split evenly across classes (29 LEFT / 28 RIGHT), so exclusion won't bias the labels.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3502152" cy="3657600"/>
          </a:xfrm>
          <a:prstGeom prst="roundRect">
            <a:avLst>
              <a:gd name="adj" fmla="val 2611"/>
            </a:avLst>
          </a:prstGeom>
          <a:solidFill>
            <a:srgbClr val="F4F7F9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404872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2697480"/>
            <a:ext cx="2990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 it safe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13232" y="3291840"/>
            <a:ext cx="29900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3.0× IQR cutoff already tested.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3232" y="4754880"/>
            <a:ext cx="2990088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489204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13232" y="534924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removed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(~1,972 trials left)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42232" y="2148840"/>
            <a:ext cx="3502152" cy="3657600"/>
          </a:xfrm>
          <a:prstGeom prst="roundRect">
            <a:avLst>
              <a:gd name="adj" fmla="val 261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27000" dist="50800" dir="5400000">
              <a:srgbClr val="0B3B57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70832" y="23774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4370832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98264" y="2862072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98264" y="3154680"/>
            <a:ext cx="2990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Skip the rule, cut the 57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398264" y="3749040"/>
            <a:ext cx="29900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only the 57 trials both methods flagged as bad.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98264" y="4754880"/>
            <a:ext cx="2990088" cy="0"/>
          </a:xfrm>
          <a:prstGeom prst="line">
            <a:avLst/>
          </a:prstGeom>
          <a:noFill/>
          <a:ln w="12700">
            <a:solidFill>
              <a:srgbClr val="3D7C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98264" y="489204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398264" y="534924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removed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smallest, cleanest cut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827264" y="2148840"/>
            <a:ext cx="3502152" cy="3657600"/>
          </a:xfrm>
          <a:prstGeom prst="roundRect">
            <a:avLst>
              <a:gd name="adj" fmla="val 2611"/>
            </a:avLst>
          </a:prstGeom>
          <a:solidFill>
            <a:srgbClr val="F4F7F9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83296" y="2404872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83296" y="2697480"/>
            <a:ext cx="2990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first, then decide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083296" y="3291840"/>
            <a:ext cx="29900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Band-pass filter to remove drift, then redo the rejection curve for a clearer cutoff.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83296" y="4754880"/>
            <a:ext cx="2990088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83296" y="489204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TBD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083296" y="534924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re-run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quantify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 — EDA Stage Review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40864" cy="310896"/>
          </a:xfrm>
          <a:prstGeom prst="roundRect">
            <a:avLst>
              <a:gd name="adj" fmla="val 50000"/>
            </a:avLst>
          </a:prstGeom>
          <a:solidFill>
            <a:srgbClr val="065A82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RULE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Quantifying the rejection threshold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IQR strictness from 1.5× to 4.0× on peak-to-peak amplitude to see if a natural cutoff point exists.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6537960" cy="4160520"/>
          </a:xfrm>
          <a:prstGeom prst="roundRect">
            <a:avLst>
              <a:gd name="adj" fmla="val 1758"/>
            </a:avLst>
          </a:prstGeom>
          <a:solidFill>
            <a:srgbClr val="F4F7F9"/>
          </a:solidFill>
          <a:ln/>
        </p:spPr>
      </p:sp>
      <p:pic>
        <p:nvPicPr>
          <p:cNvPr id="7" name="Image 0" descr="/home/claude/assets/rejection_curve.png">    </p:cNvPr>
          <p:cNvPicPr>
            <a:picLocks noChangeAspect="1"/>
          </p:cNvPicPr>
          <p:nvPr/>
        </p:nvPicPr>
        <p:blipFill>
          <a:blip r:embed="R53ed08ecc8764a29"/>
          <a:srcRect l="0" r="0" t="0" b="0"/>
          <a:stretch/>
        </p:blipFill>
        <p:spPr>
          <a:xfrm>
            <a:off x="685800" y="2148840"/>
            <a:ext cx="6080760" cy="3794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269480" y="1965960"/>
            <a:ext cx="4434840" cy="1920240"/>
          </a:xfrm>
          <a:prstGeom prst="roundRect">
            <a:avLst>
              <a:gd name="adj" fmla="val 4762"/>
            </a:avLst>
          </a:prstGeom>
          <a:solidFill>
            <a:srgbClr val="C25B1E">
              <a:alpha val="10000"/>
            </a:srgbClr>
          </a:solidFill>
          <a:ln w="12700">
            <a:solidFill>
              <a:srgbClr val="C25B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21488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5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clear "elbow"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43800" y="2560320"/>
            <a:ext cx="3886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rate moves smoothly from 10.9% down to 7.8% as the threshold loosens — there's no single obvious point where bad and good trials naturally separate.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269480" y="4160520"/>
            <a:ext cx="4434840" cy="1965960"/>
          </a:xfrm>
          <a:prstGeom prst="roundRect">
            <a:avLst>
              <a:gd name="adj" fmla="val 4651"/>
            </a:avLst>
          </a:prstGeom>
          <a:solidFill>
            <a:srgbClr val="065A82"/>
          </a:solidFill>
          <a:ln/>
        </p:spPr>
      </p:sp>
      <p:sp>
        <p:nvSpPr>
          <p:cNvPr id="12" name="Text 9"/>
          <p:cNvSpPr/>
          <p:nvPr/>
        </p:nvSpPr>
        <p:spPr>
          <a:xfrm>
            <a:off x="7543800" y="434340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cross-validated list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543800" y="466344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165 trials </a:t>
            </a:r>
            <a:pPr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(7.6%)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7543800" y="525780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flagged by BOTH peak-to-peak AND max-jump. Saved to CSV — cleanup pending.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 — EDA Stage Review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852928" cy="310896"/>
          </a:xfrm>
          <a:prstGeom prst="roundRect">
            <a:avLst>
              <a:gd name="adj" fmla="val 50000"/>
            </a:avLst>
          </a:prstGeom>
          <a:solidFill>
            <a:srgbClr val="065A82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852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PSD ANALYSIS · RAW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PSD: LEFT vs. RIGHT look identical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power spectral density on C3 and C4, computed directly on unfiltered signal (fs placeholder = 250 Hz).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0607040" cy="3520440"/>
          </a:xfrm>
          <a:prstGeom prst="roundRect">
            <a:avLst>
              <a:gd name="adj" fmla="val 2078"/>
            </a:avLst>
          </a:prstGeom>
          <a:solidFill>
            <a:srgbClr val="F4F7F9"/>
          </a:solidFill>
          <a:ln/>
        </p:spPr>
      </p:sp>
      <p:pic>
        <p:nvPicPr>
          <p:cNvPr id="7" name="Image 0" descr="/home/claude/assets/raw_psd.png">    </p:cNvPr>
          <p:cNvPicPr>
            <a:picLocks noChangeAspect="1"/>
          </p:cNvPicPr>
          <p:nvPr/>
        </p:nvPicPr>
        <p:blipFill>
          <a:blip r:embed="R45e0b99733584455"/>
          <a:srcRect l="0" r="0" t="0" b="0"/>
          <a:stretch/>
        </p:blipFill>
        <p:spPr>
          <a:xfrm>
            <a:off x="685800" y="2103120"/>
            <a:ext cx="10149840" cy="31546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5623560"/>
            <a:ext cx="10607040" cy="868680"/>
          </a:xfrm>
          <a:prstGeom prst="roundRect">
            <a:avLst>
              <a:gd name="adj" fmla="val 10526"/>
            </a:avLst>
          </a:prstGeom>
          <a:solidFill>
            <a:srgbClr val="21295C"/>
          </a:solidFill>
          <a:ln/>
        </p:spPr>
      </p:sp>
      <p:pic>
        <p:nvPicPr>
          <p:cNvPr id="9" name="Image 1" descr="/home/claude/icons/alert_amber.png">    </p:cNvPr>
          <p:cNvPicPr>
            <a:picLocks noChangeAspect="1"/>
          </p:cNvPicPr>
          <p:nvPr/>
        </p:nvPicPr>
        <p:blipFill>
          <a:blip r:embed="R6574ecae727e428e"/>
          <a:stretch>
            <a:fillRect/>
          </a:stretch>
        </p:blipFill>
        <p:spPr>
          <a:xfrm>
            <a:off x="685800" y="585216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5669280"/>
            <a:ext cx="9646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because there's no real difference — the mu/beta band (8–30 Hz) is completely masked by low-frequency drift and other dominant noise in the raw signal.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 — EDA Stage Review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493008" cy="310896"/>
          </a:xfrm>
          <a:prstGeom prst="roundRect">
            <a:avLst>
              <a:gd name="adj" fmla="val 50000"/>
            </a:avLst>
          </a:prstGeom>
          <a:solidFill>
            <a:srgbClr val="2E7D5B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PSD ANALYSIS · FILTERED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Filtered PSD: real LEFT vs. RIGHT separation found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an 8–30 Hz band-pass filter, a clear, visible separation appears on both C3 and C4.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7178040" cy="3566160"/>
          </a:xfrm>
          <a:prstGeom prst="roundRect">
            <a:avLst>
              <a:gd name="adj" fmla="val 2051"/>
            </a:avLst>
          </a:prstGeom>
          <a:solidFill>
            <a:srgbClr val="F4F7F9"/>
          </a:solidFill>
          <a:ln/>
        </p:spPr>
      </p:sp>
      <p:pic>
        <p:nvPicPr>
          <p:cNvPr id="7" name="Image 0" descr="/home/claude/assets/filtered_psd.png">    </p:cNvPr>
          <p:cNvPicPr>
            <a:picLocks noChangeAspect="1"/>
          </p:cNvPicPr>
          <p:nvPr/>
        </p:nvPicPr>
        <p:blipFill>
          <a:blip r:embed="R47334bf2ee35461f"/>
          <a:srcRect l="0" r="0" t="0" b="0"/>
          <a:stretch/>
        </p:blipFill>
        <p:spPr>
          <a:xfrm>
            <a:off x="640080" y="2103120"/>
            <a:ext cx="6812280" cy="3200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63840" y="1920240"/>
            <a:ext cx="3840480" cy="3566160"/>
          </a:xfrm>
          <a:prstGeom prst="roundRect">
            <a:avLst>
              <a:gd name="adj" fmla="val 2564"/>
            </a:avLst>
          </a:prstGeom>
          <a:solidFill>
            <a:srgbClr val="EAF3EE"/>
          </a:solidFill>
          <a:ln/>
        </p:spPr>
      </p:sp>
      <p:pic>
        <p:nvPicPr>
          <p:cNvPr id="9" name="Image 1" descr="/home/claude/icons/check_midnight.png">    </p:cNvPr>
          <p:cNvPicPr>
            <a:picLocks noChangeAspect="1"/>
          </p:cNvPicPr>
          <p:nvPr/>
        </p:nvPicPr>
        <p:blipFill>
          <a:blip r:embed="R5eebec3ca0a34c1f"/>
          <a:stretch>
            <a:fillRect/>
          </a:stretch>
        </p:blipFill>
        <p:spPr>
          <a:xfrm>
            <a:off x="8138160" y="210312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49640" y="2066544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filtered chart shows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138160" y="2606040"/>
            <a:ext cx="33375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C5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consistently sits above LEFT 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C5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most of the mu/beta range, especially around the 10–12 Hz mu peak.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5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 on filtered band power: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C5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C4:  p = 0.034  (significant)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5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C3:  p = 0.110  (not significant)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5623560"/>
            <a:ext cx="7178040" cy="868680"/>
          </a:xfrm>
          <a:prstGeom prst="roundRect">
            <a:avLst>
              <a:gd name="adj" fmla="val 10526"/>
            </a:avLst>
          </a:prstGeom>
          <a:solidFill>
            <a:srgbClr val="065A82"/>
          </a:solidFill>
          <a:ln/>
        </p:spPr>
      </p:sp>
      <p:sp>
        <p:nvSpPr>
          <p:cNvPr id="13" name="Text 9"/>
          <p:cNvSpPr/>
          <p:nvPr/>
        </p:nvSpPr>
        <p:spPr>
          <a:xfrm>
            <a:off x="731520" y="5669280"/>
            <a:ext cx="6629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first real evidence that this raw dataset contains a usable LEFT/RIGHT motor-imagery signal.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 — EDA Stage Review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EDA stage leaves us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6" name="Image 0" descr="/home/claude/icons/check_white.png">    </p:cNvPr>
          <p:cNvPicPr>
            <a:picLocks noChangeAspect="1"/>
          </p:cNvPicPr>
          <p:nvPr/>
        </p:nvPicPr>
        <p:blipFill>
          <a:blip r:embed="R0987c33ed0b443e2"/>
          <a:stretch>
            <a:fillRect/>
          </a:stretch>
        </p:blipFill>
        <p:spPr>
          <a:xfrm>
            <a:off x="658368" y="18470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664208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clean on the basics: balanced, complete, consistent length, no flat channels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9" name="Image 1" descr="/home/claude/icons/check_white.png">    </p:cNvPr>
          <p:cNvPicPr>
            <a:picLocks noChangeAspect="1"/>
          </p:cNvPicPr>
          <p:nvPr/>
        </p:nvPicPr>
        <p:blipFill>
          <a:blip r:embed="R0987c33ed0b443e2"/>
          <a:stretch>
            <a:fillRect/>
          </a:stretch>
        </p:blipFill>
        <p:spPr>
          <a:xfrm>
            <a:off x="658368" y="276148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578608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highest-confidence bad trials identified — decision: exclude them (Option 2, 2.6% cut)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2" name="Image 2" descr="/home/claude/icons/chart_white.png">    </p:cNvPr>
          <p:cNvPicPr>
            <a:picLocks noChangeAspect="1"/>
          </p:cNvPicPr>
          <p:nvPr/>
        </p:nvPicPr>
        <p:blipFill>
          <a:blip r:embed="R86eb73ab9dbc4a81"/>
          <a:stretch>
            <a:fillRect/>
          </a:stretch>
        </p:blipFill>
        <p:spPr>
          <a:xfrm>
            <a:off x="658368" y="367588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3493008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PSD confirms a real LEFT/RIGHT separation exists in the mu/beta band (8–30 Hz)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7178040" y="1691640"/>
            <a:ext cx="4480560" cy="4480560"/>
          </a:xfrm>
          <a:prstGeom prst="roundRect">
            <a:avLst>
              <a:gd name="adj" fmla="val 2041"/>
            </a:avLst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15" name="Image 3" descr="/home/claude/icons/help_amber.png">    </p:cNvPr>
          <p:cNvPicPr>
            <a:picLocks noChangeAspect="1"/>
          </p:cNvPicPr>
          <p:nvPr/>
        </p:nvPicPr>
        <p:blipFill>
          <a:blip r:embed="R3910f0bc25684c63"/>
          <a:stretch>
            <a:fillRect/>
          </a:stretch>
        </p:blipFill>
        <p:spPr>
          <a:xfrm>
            <a:off x="7452360" y="192024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955280" y="19476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questions for instructors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7452360" y="2514600"/>
            <a:ext cx="393192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device's true sampling rate?</a:t>
            </a:r>
            <a:endParaRPr lang="en-US" sz="1350" dirty="0"/>
          </a:p>
          <a:p>
            <a:pPr indent="0" marL="0">
              <a:lnSpc>
                <a:spcPts val="1600"/>
              </a:lnSpc>
              <a:spcAft>
                <a:spcPts val="1600"/>
              </a:spcAft>
              <a:buNone/>
            </a:pPr>
            <a:r>
              <a:rPr lang="en-US" sz="12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placeholder-testing at 250 Hz — needs confirmation before preprocessing is finalized.</a:t>
            </a:r>
            <a:endParaRPr lang="en-US" sz="135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C3/C4 similarity finding worth flagging to the data provider?</a:t>
            </a:r>
            <a:endParaRPr lang="en-US" sz="13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 of trials show near-identical C3/C4 — we believe it's drift, not hardware, but haven't hard-confirmed it.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548640" y="61264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finalize the rejection list, confirm fs, and move into full preprocessing.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 — EDA Stage Review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852928" cy="310896"/>
          </a:xfrm>
          <a:prstGeom prst="roundRect">
            <a:avLst>
              <a:gd name="adj" fmla="val 50000"/>
            </a:avLst>
          </a:prstGeom>
          <a:solidFill>
            <a:srgbClr val="065A82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852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Preprocessing: from raw signal to modeling-ready data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notebooks: the main pipeline (filter → reject → re-reference → epoching test) and a follow-up integrity pass (duplicate detection + notch filter).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F4F7F9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42316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/home/claude/icons/sliders_white.png">    </p:cNvPr>
          <p:cNvPicPr>
            <a:picLocks noChangeAspect="1"/>
          </p:cNvPicPr>
          <p:nvPr/>
        </p:nvPicPr>
        <p:blipFill>
          <a:blip r:embed="Rd7a26ab5e4d84e9a"/>
          <a:stretch>
            <a:fillRect/>
          </a:stretch>
        </p:blipFill>
        <p:spPr>
          <a:xfrm>
            <a:off x="841248" y="2551176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2004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cleaning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85800" y="3840480"/>
            <a:ext cx="21488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0.5–40 Hz band-pass filter, then a 50 Hz notch as an extra safety pass.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73552" y="214884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F4F7F9"/>
          </a:solidFill>
          <a:ln/>
        </p:spPr>
      </p:sp>
      <p:sp>
        <p:nvSpPr>
          <p:cNvPr id="12" name="Shape 9"/>
          <p:cNvSpPr/>
          <p:nvPr/>
        </p:nvSpPr>
        <p:spPr>
          <a:xfrm>
            <a:off x="3529584" y="24231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/home/claude/icons/filter_white.png">    </p:cNvPr>
          <p:cNvPicPr>
            <a:picLocks noChangeAspect="1"/>
          </p:cNvPicPr>
          <p:nvPr/>
        </p:nvPicPr>
        <p:blipFill>
          <a:blip r:embed="R27fe3dd4254c467d"/>
          <a:stretch>
            <a:fillRect/>
          </a:stretch>
        </p:blipFill>
        <p:spPr>
          <a:xfrm>
            <a:off x="3657600" y="2551176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02152" y="32004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Trial-level QC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3502152" y="3840480"/>
            <a:ext cx="21488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EDA's 165-trial rejection list, then a new duplicate-signal check.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89904" y="214884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F4F7F9"/>
          </a:solidFill>
          <a:ln/>
        </p:spPr>
      </p:sp>
      <p:sp>
        <p:nvSpPr>
          <p:cNvPr id="17" name="Shape 13"/>
          <p:cNvSpPr/>
          <p:nvPr/>
        </p:nvSpPr>
        <p:spPr>
          <a:xfrm>
            <a:off x="6345936" y="242316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8" name="Image 2" descr="/home/claude/icons/grid_white.png">    </p:cNvPr>
          <p:cNvPicPr>
            <a:picLocks noChangeAspect="1"/>
          </p:cNvPicPr>
          <p:nvPr/>
        </p:nvPicPr>
        <p:blipFill>
          <a:blip r:embed="R13df9b763d2e48ca"/>
          <a:stretch>
            <a:fillRect/>
          </a:stretch>
        </p:blipFill>
        <p:spPr>
          <a:xfrm>
            <a:off x="6473952" y="2551176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18504" y="32004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Re-referencing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6318504" y="3840480"/>
            <a:ext cx="21488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Average Reference (CAR) tested as a separate, comparable branch.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906256" y="214884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F4F7F9"/>
          </a:solidFill>
          <a:ln/>
        </p:spPr>
      </p:sp>
      <p:sp>
        <p:nvSpPr>
          <p:cNvPr id="22" name="Shape 17"/>
          <p:cNvSpPr/>
          <p:nvPr/>
        </p:nvSpPr>
        <p:spPr>
          <a:xfrm>
            <a:off x="9162288" y="2423160"/>
            <a:ext cx="566928" cy="566928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3" name="Image 3" descr="/home/claude/icons/target_white.png">    </p:cNvPr>
          <p:cNvPicPr>
            <a:picLocks noChangeAspect="1"/>
          </p:cNvPicPr>
          <p:nvPr/>
        </p:nvPicPr>
        <p:blipFill>
          <a:blip r:embed="Rc9845c9bd3134d3b"/>
          <a:stretch>
            <a:fillRect/>
          </a:stretch>
        </p:blipFill>
        <p:spPr>
          <a:xfrm>
            <a:off x="9290304" y="2551176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34856" y="32004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Epoching test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9134856" y="3840480"/>
            <a:ext cx="21488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candidate time windows scored — no advantage found, so none applied yet.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 — Preprocessing Stage Review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36976" cy="310896"/>
          </a:xfrm>
          <a:prstGeom prst="roundRect">
            <a:avLst>
              <a:gd name="adj" fmla="val 50000"/>
            </a:avLst>
          </a:prstGeom>
          <a:solidFill>
            <a:srgbClr val="2E7D5B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236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FROM STAGE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Sampling rate: confirmed by the instructor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closes the open question raised at the end of the EDA stage.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3383280" cy="3794760"/>
          </a:xfrm>
          <a:prstGeom prst="roundRect">
            <a:avLst>
              <a:gd name="adj" fmla="val 2703"/>
            </a:avLst>
          </a:prstGeom>
          <a:solidFill>
            <a:srgbClr val="2E7D5B"/>
          </a:solidFill>
          <a:ln/>
        </p:spPr>
      </p:sp>
      <p:pic>
        <p:nvPicPr>
          <p:cNvPr id="7" name="Image 0" descr="/home/claude/icons/check_white.png">    </p:cNvPr>
          <p:cNvPicPr>
            <a:picLocks noChangeAspect="1"/>
          </p:cNvPicPr>
          <p:nvPr/>
        </p:nvPicPr>
        <p:blipFill>
          <a:blip r:embed="R4d060f61c4dc49f6"/>
          <a:stretch>
            <a:fillRect/>
          </a:stretch>
        </p:blipFill>
        <p:spPr>
          <a:xfrm>
            <a:off x="777240" y="23317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8803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 Hz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640080" y="3611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sampling rate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4251960"/>
            <a:ext cx="2651760" cy="0"/>
          </a:xfrm>
          <a:prstGeom prst="line">
            <a:avLst/>
          </a:prstGeom>
          <a:noFill/>
          <a:ln w="12700">
            <a:solidFill>
              <a:srgbClr val="5FA07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44348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D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samples ÷ 250 Hz = 10 seconds of EEG per trial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160520" y="2057400"/>
            <a:ext cx="6995160" cy="1737360"/>
          </a:xfrm>
          <a:prstGeom prst="roundRect">
            <a:avLst>
              <a:gd name="adj" fmla="val 5263"/>
            </a:avLst>
          </a:prstGeom>
          <a:solidFill>
            <a:srgbClr val="F4F7F9"/>
          </a:solidFill>
          <a:ln/>
        </p:spPr>
      </p:sp>
      <p:sp>
        <p:nvSpPr>
          <p:cNvPr id="13" name="Text 10"/>
          <p:cNvSpPr/>
          <p:nvPr/>
        </p:nvSpPr>
        <p:spPr>
          <a:xfrm>
            <a:off x="4434840" y="2240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now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434840" y="2606040"/>
            <a:ext cx="6446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fs-dependent step from Stage 1 — the band-pass design, the PSD frequency axis, epoch timing — now runs on a confirmed value instead of a placeholder.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160520" y="3977640"/>
            <a:ext cx="6995160" cy="1874520"/>
          </a:xfrm>
          <a:prstGeom prst="roundRect">
            <a:avLst>
              <a:gd name="adj" fmla="val 4878"/>
            </a:avLst>
          </a:prstGeom>
          <a:solidFill>
            <a:srgbClr val="21295C"/>
          </a:solidFill>
          <a:ln/>
        </p:spPr>
      </p:sp>
      <p:sp>
        <p:nvSpPr>
          <p:cNvPr id="16" name="Text 13"/>
          <p:cNvSpPr/>
          <p:nvPr/>
        </p:nvSpPr>
        <p:spPr>
          <a:xfrm>
            <a:off x="4434840" y="414223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axis rebuilt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434840" y="4480560"/>
            <a:ext cx="6446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Time column was irregular and started from large absolute numbers. For processed data, time is rebuilt as an even grid: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434840" y="5166360"/>
            <a:ext cx="6446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0.000, 0.004, 0.008, …   (step = 1 / 250 Hz)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 — Preprocessing Stage Review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065A82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CLEANING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0.5–30 Hz? No — a 0.5–40 Hz band-pass filter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4th-order Butterworth, applied to all four channels on every trial — removes slow drift and high-frequency noise while preserving mu (8–12 Hz) and beta (13–30 Hz).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6720840" cy="3794760"/>
          </a:xfrm>
          <a:prstGeom prst="roundRect">
            <a:avLst>
              <a:gd name="adj" fmla="val 1928"/>
            </a:avLst>
          </a:prstGeom>
          <a:solidFill>
            <a:srgbClr val="F4F7F9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94560"/>
            <a:ext cx="6263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— same trial, before / after</a:t>
            </a:r>
            <a:endParaRPr lang="en-US" sz="1150" dirty="0"/>
          </a:p>
        </p:txBody>
      </p:sp>
      <p:pic>
        <p:nvPicPr>
          <p:cNvPr id="8" name="Image 0" descr="/home/claude/assets/raw_c3_time.png">    </p:cNvPr>
          <p:cNvPicPr>
            <a:picLocks noChangeAspect="1"/>
          </p:cNvPicPr>
          <p:nvPr/>
        </p:nvPicPr>
        <p:blipFill>
          <a:blip r:embed="R6d3e239bcaeb4664"/>
          <a:srcRect l="0" r="0" t="0" b="0"/>
          <a:stretch/>
        </p:blipFill>
        <p:spPr>
          <a:xfrm>
            <a:off x="685800" y="2514600"/>
            <a:ext cx="6263640" cy="1572768"/>
          </a:xfrm>
          <a:prstGeom prst="rect">
            <a:avLst/>
          </a:prstGeom>
        </p:spPr>
      </p:pic>
      <p:pic>
        <p:nvPicPr>
          <p:cNvPr id="9" name="Image 1" descr="/home/claude/assets/filtered_c3_time.png">    </p:cNvPr>
          <p:cNvPicPr>
            <a:picLocks noChangeAspect="1"/>
          </p:cNvPicPr>
          <p:nvPr/>
        </p:nvPicPr>
        <p:blipFill>
          <a:blip r:embed="R36387780d3a74f4f"/>
          <a:srcRect l="0" r="0" t="0" b="0"/>
          <a:stretch/>
        </p:blipFill>
        <p:spPr>
          <a:xfrm>
            <a:off x="685800" y="4114800"/>
            <a:ext cx="6263640" cy="15727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452360" y="2057400"/>
            <a:ext cx="4251960" cy="1783080"/>
          </a:xfrm>
          <a:prstGeom prst="roundRect">
            <a:avLst>
              <a:gd name="adj" fmla="val 5128"/>
            </a:avLst>
          </a:prstGeom>
          <a:solidFill>
            <a:srgbClr val="EAF3EE"/>
          </a:solidFill>
          <a:ln/>
        </p:spPr>
      </p:sp>
      <p:pic>
        <p:nvPicPr>
          <p:cNvPr id="11" name="Image 2" descr="/home/claude/icons/check_midnight.png">    </p:cNvPr>
          <p:cNvPicPr>
            <a:picLocks noChangeAspect="1"/>
          </p:cNvPicPr>
          <p:nvPr/>
        </p:nvPicPr>
        <p:blipFill>
          <a:blip r:embed="R268a2f28552c43c5"/>
          <a:stretch>
            <a:fillRect/>
          </a:stretch>
        </p:blipFill>
        <p:spPr>
          <a:xfrm>
            <a:off x="7708392" y="224028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92440" y="22128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Kept: mu &amp; beta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7708392" y="2606040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5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 (8–12 Hz) and beta (13–30 Hz) — the bands the whole classification task depends on — sit safely inside the 0.5–40 Hz pass-band.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452360" y="4023360"/>
            <a:ext cx="4251960" cy="182880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</p:sp>
      <p:sp>
        <p:nvSpPr>
          <p:cNvPr id="15" name="Text 10"/>
          <p:cNvSpPr/>
          <p:nvPr/>
        </p:nvSpPr>
        <p:spPr>
          <a:xfrm>
            <a:off x="7726680" y="42062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Notch filter — not applied here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7726680" y="4663440"/>
            <a:ext cx="3703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50 Hz notch was judged unnecessary at this stage — 50 Hz already sits outside the 0.5–40 Hz kept range.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 — Preprocessing Stage Review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40864" cy="310896"/>
          </a:xfrm>
          <a:prstGeom prst="roundRect">
            <a:avLst>
              <a:gd name="adj" fmla="val 50000"/>
            </a:avLst>
          </a:prstGeom>
          <a:solidFill>
            <a:srgbClr val="065A82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TRIAL-LEVEL QC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Applying the EDA's rejection list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165-trial cross-validated list from Stage 1 is used as-is to filter the manifest — no re-flagging, no new thresholds.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2487168" cy="1874520"/>
          </a:xfrm>
          <a:prstGeom prst="roundRect">
            <a:avLst>
              <a:gd name="adj" fmla="val 4390"/>
            </a:avLst>
          </a:prstGeom>
          <a:solidFill>
            <a:srgbClr val="F4F7F9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148840"/>
            <a:ext cx="2487168" cy="73152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404872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2,160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94360" y="3063240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trials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rejection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148840"/>
            <a:ext cx="2487168" cy="1874520"/>
          </a:xfrm>
          <a:prstGeom prst="roundRect">
            <a:avLst>
              <a:gd name="adj" fmla="val 4390"/>
            </a:avLst>
          </a:prstGeom>
          <a:solidFill>
            <a:srgbClr val="F4F7F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0" y="2148840"/>
            <a:ext cx="2487168" cy="73152"/>
          </a:xfrm>
          <a:prstGeom prst="roundRect">
            <a:avLst/>
          </a:prstGeom>
          <a:solidFill>
            <a:srgbClr val="C25B1E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2404872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5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37560" y="3063240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(86 LEFT / 79 RIGHT)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2148840"/>
            <a:ext cx="2487168" cy="1874520"/>
          </a:xfrm>
          <a:prstGeom prst="roundRect">
            <a:avLst>
              <a:gd name="adj" fmla="val 4390"/>
            </a:avLst>
          </a:prstGeom>
          <a:solidFill>
            <a:srgbClr val="F4F7F9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0" y="2148840"/>
            <a:ext cx="2487168" cy="73152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2404872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1,995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80760" y="3063240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clean trials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(7.64% removed)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0" y="2148840"/>
            <a:ext cx="2487168" cy="1874520"/>
          </a:xfrm>
          <a:prstGeom prst="roundRect">
            <a:avLst>
              <a:gd name="adj" fmla="val 4390"/>
            </a:avLst>
          </a:prstGeom>
          <a:solidFill>
            <a:srgbClr val="F4F7F9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0" y="2148840"/>
            <a:ext cx="2487168" cy="73152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8823960" y="2404872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999 / 996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823960" y="3063240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/ LEFT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balance preserved (~50/50)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34340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21295C"/>
          </a:solidFill>
          <a:ln/>
        </p:spPr>
      </p:sp>
      <p:pic>
        <p:nvPicPr>
          <p:cNvPr id="23" name="Image 0" descr="/home/claude/icons/layers_amber.png">    </p:cNvPr>
          <p:cNvPicPr>
            <a:picLocks noChangeAspect="1"/>
          </p:cNvPicPr>
          <p:nvPr/>
        </p:nvPicPr>
        <p:blipFill>
          <a:blip r:embed="R62f819e3875240ec"/>
          <a:stretch>
            <a:fillRect/>
          </a:stretch>
        </p:blipFill>
        <p:spPr>
          <a:xfrm>
            <a:off x="777240" y="4754880"/>
            <a:ext cx="384048" cy="38404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325880" y="452628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Rejection was cross-checked by class before committing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325880" y="489204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LEFT and 79 RIGHT trials removed (7.9% vs. 7.3% of each class) — close enough that rejection isn't quietly favoring one label. clean_manifest.csv is the resulting baseline dataset.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 — Preprocessing Stage Review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C25B1E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25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FINDING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second QC pass found duplicate EEG signals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trial's 4-channel signal was hashed (MD5) to catch identical recordings saved under different trial IDs — something raw inspection wouldn't reveal.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383280" cy="2606040"/>
          </a:xfrm>
          <a:prstGeom prst="roundRect">
            <a:avLst>
              <a:gd name="adj" fmla="val 3509"/>
            </a:avLst>
          </a:prstGeom>
          <a:solidFill>
            <a:srgbClr val="F4F7F9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2860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85800" y="29718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trials in duplicate groups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52044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groups of identical signal, found by hashing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58768" y="313182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160520" y="2103120"/>
            <a:ext cx="3383280" cy="2606040"/>
          </a:xfrm>
          <a:prstGeom prst="roundRect">
            <a:avLst>
              <a:gd name="adj" fmla="val 3509"/>
            </a:avLst>
          </a:prstGeom>
          <a:solidFill>
            <a:srgbClr val="F4F7F9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22860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25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389120" y="29718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removed — conflicting labels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89120" y="352044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groups where the SAME signal was labeled both LEFT and RIGHT — untrustworthy, dropped entirely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562088" y="313182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863840" y="2103120"/>
            <a:ext cx="3383280" cy="2606040"/>
          </a:xfrm>
          <a:prstGeom prst="roundRect">
            <a:avLst>
              <a:gd name="adj" fmla="val 3509"/>
            </a:avLst>
          </a:prstGeom>
          <a:solidFill>
            <a:srgbClr val="F4F7F9"/>
          </a:solidFill>
          <a:ln/>
        </p:spPr>
      </p:sp>
      <p:sp>
        <p:nvSpPr>
          <p:cNvPr id="17" name="Text 15"/>
          <p:cNvSpPr/>
          <p:nvPr/>
        </p:nvSpPr>
        <p:spPr>
          <a:xfrm>
            <a:off x="8092440" y="22860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092440" y="29718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removed — same-label duplicates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92440" y="352044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groups where duplicates agreed on label — kept one copy per group, dropped the rest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8920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8920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1,995 clean trials  →  1,935 final unique trials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(971 RIGHT / 964 LEFT)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 — Preprocessing Stage Review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40864" cy="310896"/>
          </a:xfrm>
          <a:prstGeom prst="roundRect">
            <a:avLst>
              <a:gd name="adj" fmla="val 50000"/>
            </a:avLst>
          </a:prstGeom>
          <a:solidFill>
            <a:srgbClr val="065A82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RE-REFERENCING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Average Reference — an experimental branch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27632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time sample, subtract the average of FZ, C3, CZ, C4 from each channel: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0" y="1627632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channel(t) − mean(FZ, C3, CZ, C4)(t)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6720840" cy="3154680"/>
          </a:xfrm>
          <a:prstGeom prst="roundRect">
            <a:avLst>
              <a:gd name="adj" fmla="val 2319"/>
            </a:avLst>
          </a:prstGeom>
          <a:solidFill>
            <a:srgbClr val="F4F7F9"/>
          </a:solidFill>
          <a:ln/>
        </p:spPr>
      </p:sp>
      <p:pic>
        <p:nvPicPr>
          <p:cNvPr id="9" name="Image 0" descr="/home/claude/assets/car_before_after.png">    </p:cNvPr>
          <p:cNvPicPr>
            <a:picLocks noChangeAspect="1"/>
          </p:cNvPicPr>
          <p:nvPr/>
        </p:nvPicPr>
        <p:blipFill>
          <a:blip r:embed="Rc7d4d93cbce04838"/>
          <a:srcRect l="0" r="0" t="0" b="0"/>
          <a:stretch/>
        </p:blipFill>
        <p:spPr>
          <a:xfrm>
            <a:off x="685800" y="2743200"/>
            <a:ext cx="6263640" cy="28803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452360" y="2606040"/>
            <a:ext cx="4251960" cy="1463040"/>
          </a:xfrm>
          <a:prstGeom prst="roundRect">
            <a:avLst>
              <a:gd name="adj" fmla="val 6250"/>
            </a:avLst>
          </a:prstGeom>
          <a:solidFill>
            <a:srgbClr val="EAF3EE"/>
          </a:solidFill>
          <a:ln/>
        </p:spPr>
      </p:sp>
      <p:pic>
        <p:nvPicPr>
          <p:cNvPr id="11" name="Image 1" descr="/home/claude/icons/check_midnight.png">    </p:cNvPr>
          <p:cNvPicPr>
            <a:picLocks noChangeAspect="1"/>
          </p:cNvPicPr>
          <p:nvPr/>
        </p:nvPicPr>
        <p:blipFill>
          <a:blip r:embed="R6b7d14ce2b8e4ebc"/>
          <a:stretch>
            <a:fillRect/>
          </a:stretch>
        </p:blipFill>
        <p:spPr>
          <a:xfrm>
            <a:off x="7708392" y="27889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92440" y="27614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Sanity-checked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708392" y="310896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C5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the 4 re-referenced channels comes out to ≈ 0 at every sample, as CAR requires by definition.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452360" y="4206240"/>
            <a:ext cx="4251960" cy="1645920"/>
          </a:xfrm>
          <a:prstGeom prst="roundRect">
            <a:avLst>
              <a:gd name="adj" fmla="val 5556"/>
            </a:avLst>
          </a:prstGeom>
          <a:solidFill>
            <a:srgbClr val="C25B1E">
              <a:alpha val="10000"/>
            </a:srgbClr>
          </a:solidFill>
          <a:ln w="12700">
            <a:solidFill>
              <a:srgbClr val="C25B1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726680" y="437083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25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Treated as experimental, not default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7726680" y="480060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4 EEG channels, CAR's noise-cancelling benefit is less certain than in high-density montages — kept as a parallel branch, not assumed better.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 — Preprocessing Stage Review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133088" cy="310896"/>
          </a:xfrm>
          <a:prstGeom prst="roundRect">
            <a:avLst>
              <a:gd name="adj" fmla="val 50000"/>
            </a:avLst>
          </a:prstGeom>
          <a:solidFill>
            <a:srgbClr val="065A82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133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CLEANING · REFINEMENT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Notch filter: added back as a final safety pass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band-pass already excludes 50 Hz — but the follow-up cleaning pass applies a notch filter anyway, after deduplication, before saving the final dataset.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F4F7F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860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reasoning (Stage 2 report)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separate 50 Hz notch filter was not considered necessary for the current 0.5–40 Hz pipeline because 50 Hz is already outside the kept frequency range."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25196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logic still holds for amplitude — but powerline interference can leak into neighboring frequencies through filter roll-off and any nonlinearity upstream.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97880" y="2103120"/>
            <a:ext cx="5440680" cy="3566160"/>
          </a:xfrm>
          <a:prstGeom prst="roundRect">
            <a:avLst>
              <a:gd name="adj" fmla="val 2564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0" y="228600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decision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172200" y="2697480"/>
            <a:ext cx="4892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 50 Hz notch filter (Q = 30) </a:t>
            </a:r>
            <a:endParaRPr lang="en-US" sz="1300" dirty="0"/>
          </a:p>
          <a:p>
            <a:pPr indent="0" marL="0">
              <a:lnSpc>
                <a:spcPts val="17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final, low-risk safety pass on the deduplicated dataset — cheap insurance against any residual line noise.</a:t>
            </a:r>
            <a:endParaRPr lang="en-US" sz="1300" dirty="0"/>
          </a:p>
          <a:p>
            <a:pPr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of operations: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(0.5–40 Hz) → Reject (165) → Dedup (60) → Notch (50 Hz) → final_clean_manifest.csv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 — Preprocessing Stage Review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12848" cy="310896"/>
          </a:xfrm>
          <a:prstGeom prst="roundRect">
            <a:avLst>
              <a:gd name="adj" fmla="val 50000"/>
            </a:avLst>
          </a:prstGeom>
          <a:solidFill>
            <a:srgbClr val="065A82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EPOCHING TEST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2-second windows: no advantage found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candidate windows (0–2s through 8–10s) were scored with mu/beta band-power features + a 5-fold cross-validated SVM.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7178040" cy="3566160"/>
          </a:xfrm>
          <a:prstGeom prst="roundRect">
            <a:avLst>
              <a:gd name="adj" fmla="val 2051"/>
            </a:avLst>
          </a:prstGeom>
          <a:solidFill>
            <a:srgbClr val="F4F7F9"/>
          </a:solidFill>
          <a:ln/>
        </p:spPr>
      </p:sp>
      <p:pic>
        <p:nvPicPr>
          <p:cNvPr id="7" name="Image 0" descr="/home/claude/assets/epoch_accuracy.png">    </p:cNvPr>
          <p:cNvPicPr>
            <a:picLocks noChangeAspect="1"/>
          </p:cNvPicPr>
          <p:nvPr/>
        </p:nvPicPr>
        <p:blipFill>
          <a:blip r:embed="R492bb0fbb27e46e3"/>
          <a:srcRect l="0" r="0" t="0" b="0"/>
          <a:stretch/>
        </p:blipFill>
        <p:spPr>
          <a:xfrm>
            <a:off x="640080" y="2103120"/>
            <a:ext cx="690372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63840" y="1965960"/>
            <a:ext cx="3840480" cy="3566160"/>
          </a:xfrm>
          <a:prstGeom prst="roundRect">
            <a:avLst>
              <a:gd name="adj" fmla="val 2564"/>
            </a:avLst>
          </a:prstGeom>
          <a:solidFill>
            <a:srgbClr val="C25B1E">
              <a:alpha val="10000"/>
            </a:srgbClr>
          </a:solidFill>
          <a:ln w="12700">
            <a:solidFill>
              <a:srgbClr val="C25B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0" y="2148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25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 everywhere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138160" y="256032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window landed at essentially chance accuracy (49.5%–51.1%), with no window standing out as clearly informative.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138160" y="3840480"/>
            <a:ext cx="3291840" cy="0"/>
          </a:xfrm>
          <a:prstGeom prst="line">
            <a:avLst/>
          </a:prstGeom>
          <a:noFill/>
          <a:ln w="12700">
            <a:solidFill>
              <a:srgbClr val="E0B0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4023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2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Decision: don't crop yet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138160" y="438912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full 10-second clean trials. Windowing is deferred to model-specific stages — CSP+SVM will focus on 8–30 Hz, EEGNet will use the full cleaned time series.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 — Preprocessing Stage Review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modeling will start from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1051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2,160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1792" y="231343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EEG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14600" y="201168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8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79192" y="16916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679192" y="181051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2,160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52344" y="231343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0.5–40 Hz filter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45152" y="201168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8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09744" y="16916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809744" y="181051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1,995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82896" y="231343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(EDA list)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75704" y="201168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8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40296" y="16916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940296" y="181051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1,935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013448" y="231343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906256" y="201168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8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070848" y="16916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070848" y="181051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1,935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44000" y="231343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filter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2926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clean dataset (1,935 trials) splits into two comparable branches: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342900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593592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filtered EEG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" y="399592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clean_manifest.csv → final_clean_manifest.csv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2960" y="438912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Band-pass filtered, rejected, de-duplicated, notch-filtered. No re-referencing.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342900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3593592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filtered EEG + CAR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46520" y="399592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rereferenced_manifest.csv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46520" y="438912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pipeline, plus Common Average Reference across FZ / C3 / CZ / C4.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5440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branches will be compared during modeling using the same data split and evaluation method.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 — Preprocessing Stage Review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40864" cy="310896"/>
          </a:xfrm>
          <a:prstGeom prst="roundRect">
            <a:avLst>
              <a:gd name="adj" fmla="val 50000"/>
            </a:avLst>
          </a:prstGeom>
          <a:solidFill>
            <a:srgbClr val="C25B1E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25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still need before finalizing preprocessing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4F7F9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240280"/>
            <a:ext cx="502920" cy="502920"/>
          </a:xfrm>
          <a:prstGeom prst="ellipse">
            <a:avLst/>
          </a:prstGeom>
          <a:solidFill>
            <a:srgbClr val="C25B1E"/>
          </a:solidFill>
          <a:ln/>
        </p:spPr>
      </p:sp>
      <p:pic>
        <p:nvPicPr>
          <p:cNvPr id="7" name="Image 0" descr="/home/claude/icons/help_white.png">    </p:cNvPr>
          <p:cNvPicPr>
            <a:picLocks noChangeAspect="1"/>
          </p:cNvPicPr>
          <p:nvPr/>
        </p:nvPicPr>
        <p:blipFill>
          <a:blip r:embed="Ra3faa6b411554c29"/>
          <a:stretch>
            <a:fillRect/>
          </a:stretch>
        </p:blipFill>
        <p:spPr>
          <a:xfrm>
            <a:off x="850392" y="235915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1305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experimental timing for epoching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463040" y="2496312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the exact cue/onset timing: when the LEFT/RIGHT cue appears, when motor imagery starts and ends, and whether a true rest/baseline interval exists in the protocol.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3502152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4F7F9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3776472"/>
            <a:ext cx="502920" cy="502920"/>
          </a:xfrm>
          <a:prstGeom prst="ellipse">
            <a:avLst/>
          </a:prstGeom>
          <a:solidFill>
            <a:srgbClr val="C25B1E"/>
          </a:solidFill>
          <a:ln/>
        </p:spPr>
      </p:sp>
      <p:pic>
        <p:nvPicPr>
          <p:cNvPr id="12" name="Image 1" descr="/home/claude/icons/help_white.png">    </p:cNvPr>
          <p:cNvPicPr>
            <a:picLocks noChangeAspect="1"/>
          </p:cNvPicPr>
          <p:nvPr/>
        </p:nvPicPr>
        <p:blipFill>
          <a:blip r:embed="Ra3faa6b411554c29"/>
          <a:stretch>
            <a:fillRect/>
          </a:stretch>
        </p:blipFill>
        <p:spPr>
          <a:xfrm>
            <a:off x="850392" y="389534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366674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CAR worth keeping with only 4 channels?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463040" y="4032504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is mathematically valid here, but its benefit is less proven with a 4-channel montage than with high-density EEG — we'd like a sanity check before treating it as anything more than experimental.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57200" y="5038344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4F7F9"/>
          </a:solidFill>
          <a:ln/>
        </p:spPr>
      </p:sp>
      <p:sp>
        <p:nvSpPr>
          <p:cNvPr id="16" name="Shape 12"/>
          <p:cNvSpPr/>
          <p:nvPr/>
        </p:nvSpPr>
        <p:spPr>
          <a:xfrm>
            <a:off x="731520" y="5312664"/>
            <a:ext cx="502920" cy="502920"/>
          </a:xfrm>
          <a:prstGeom prst="ellipse">
            <a:avLst/>
          </a:prstGeom>
          <a:solidFill>
            <a:srgbClr val="C25B1E"/>
          </a:solidFill>
          <a:ln/>
        </p:spPr>
      </p:sp>
      <p:pic>
        <p:nvPicPr>
          <p:cNvPr id="17" name="Image 2" descr="/home/claude/icons/help_white.png">    </p:cNvPr>
          <p:cNvPicPr>
            <a:picLocks noChangeAspect="1"/>
          </p:cNvPicPr>
          <p:nvPr/>
        </p:nvPicPr>
        <p:blipFill>
          <a:blip r:embed="Ra3faa6b411554c29"/>
          <a:stretch>
            <a:fillRect/>
          </a:stretch>
        </p:blipFill>
        <p:spPr>
          <a:xfrm>
            <a:off x="850392" y="543153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520293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 the 48 conflicting-label duplicates be reported upstream?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463040" y="5568696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signals carrying different LEFT/RIGHT labels suggest a labeling or logging issue at the data-collection stage, not just noise — worth flagging to the data provider.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 — Preprocessing Stage Review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852928" cy="310896"/>
          </a:xfrm>
          <a:prstGeom prst="roundRect">
            <a:avLst>
              <a:gd name="adj" fmla="val 50000"/>
            </a:avLst>
          </a:prstGeom>
          <a:solidFill>
            <a:srgbClr val="C25B1E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852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25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· MODELING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Modeling: three approaches, one shared ceiling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+ SVM, EEGNet, and a CNN + LSTM hybrid were all trained on the final 1,935-trial clean dataset (964 LEFT / 971 RIGHT).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0881360" cy="1828800"/>
          </a:xfrm>
          <a:prstGeom prst="roundRect">
            <a:avLst>
              <a:gd name="adj" fmla="val 5000"/>
            </a:avLst>
          </a:prstGeom>
          <a:solidFill>
            <a:srgbClr val="C25B1E">
              <a:alpha val="10000"/>
            </a:srgbClr>
          </a:solidFill>
          <a:ln w="12700">
            <a:solidFill>
              <a:srgbClr val="C25B1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423160"/>
            <a:ext cx="566928" cy="566928"/>
          </a:xfrm>
          <a:prstGeom prst="ellipse">
            <a:avLst/>
          </a:prstGeom>
          <a:solidFill>
            <a:srgbClr val="C25B1E"/>
          </a:solidFill>
          <a:ln/>
        </p:spPr>
      </p:sp>
      <p:pic>
        <p:nvPicPr>
          <p:cNvPr id="8" name="Image 0" descr="/home/claude/icons/alert_white.png">    </p:cNvPr>
          <p:cNvPicPr>
            <a:picLocks noChangeAspect="1"/>
          </p:cNvPicPr>
          <p:nvPr/>
        </p:nvPicPr>
        <p:blipFill>
          <a:blip r:embed="R898d3fd6ba434ad5"/>
          <a:stretch>
            <a:fillRect/>
          </a:stretch>
        </p:blipFill>
        <p:spPr>
          <a:xfrm>
            <a:off x="914400" y="2560320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2860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5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context, learned after these runs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08760" y="2697480"/>
            <a:ext cx="9509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2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instructor later confirmed the underlying EEG recordings are low quality. That reframes everything on the next slides: near-chance results point to a data ceiling, not necessarily failed modeling choices.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57200" y="41605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21295C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3891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50.13%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685800" y="50749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majority-class baseline on the test set — the number every model needs to beat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069080" y="4160520"/>
            <a:ext cx="7269480" cy="1965960"/>
          </a:xfrm>
          <a:prstGeom prst="roundRect">
            <a:avLst>
              <a:gd name="adj" fmla="val 4651"/>
            </a:avLst>
          </a:prstGeom>
          <a:solidFill>
            <a:srgbClr val="F4F7F9"/>
          </a:solidFill>
          <a:ln/>
        </p:spPr>
      </p:sp>
      <p:sp>
        <p:nvSpPr>
          <p:cNvPr id="15" name="Text 12"/>
          <p:cNvSpPr/>
          <p:nvPr/>
        </p:nvSpPr>
        <p:spPr>
          <a:xfrm>
            <a:off x="4343400" y="4343400"/>
            <a:ext cx="6720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the next few slides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343400" y="4754880"/>
            <a:ext cx="6720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is compared against this 50.13% baseline, not against 100%.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a few points above baseline is still a meaningful finding on this data.</a:t>
            </a:r>
            <a:endParaRPr lang="en-US" sz="125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here is to identify which architecture is worth revisiting on cleaner data.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 — Modeling Stage Review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364992" cy="310896"/>
          </a:xfrm>
          <a:prstGeom prst="roundRect">
            <a:avLst>
              <a:gd name="adj" fmla="val 50000"/>
            </a:avLst>
          </a:prstGeom>
          <a:solidFill>
            <a:srgbClr val="065A82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364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· CLASSICAL ML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CSP + SVM — the classical baseline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Spatial Patterns for feature extraction, feeding a Support Vector Machine classifier — the standard first move for motor-imagery EEG.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6537960" cy="4023360"/>
          </a:xfrm>
          <a:prstGeom prst="roundRect">
            <a:avLst>
              <a:gd name="adj" fmla="val 2273"/>
            </a:avLst>
          </a:prstGeom>
          <a:solidFill>
            <a:srgbClr val="F4F7F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86000"/>
            <a:ext cx="5989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performed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5989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channel sets</a:t>
            </a:r>
            <a:endParaRPr lang="en-US" sz="1300" dirty="0"/>
          </a:p>
          <a:p>
            <a:pPr indent="0" marL="0">
              <a:lnSpc>
                <a:spcPts val="17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channels  ·  central 3 (C3/CZ/C4)  ·  motor 2 (C3/C4)</a:t>
            </a:r>
            <a:endParaRPr lang="en-US" sz="1300" dirty="0"/>
          </a:p>
          <a:p>
            <a:pPr indent="0" marL="0">
              <a:lnSpc>
                <a:spcPts val="17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frequency bands</a:t>
            </a:r>
            <a:endParaRPr lang="en-US" sz="1300" dirty="0"/>
          </a:p>
          <a:p>
            <a:pPr indent="0" marL="0">
              <a:lnSpc>
                <a:spcPts val="17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 (8–12 Hz)  ·  beta (13–30 Hz)  ·  mu+beta (8–30 Hz)  ·  wider MI (7–35 Hz)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configurations total, each scored with 5-fold cross-validation on the training split.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5029200"/>
            <a:ext cx="598932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166360"/>
            <a:ext cx="5989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configuration found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5468112"/>
            <a:ext cx="5989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Channels C3, CZ, C4  •  7–35 Hz band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269480" y="2103120"/>
            <a:ext cx="4069080" cy="4023360"/>
          </a:xfrm>
          <a:prstGeom prst="roundRect">
            <a:avLst>
              <a:gd name="adj" fmla="val 2273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543800" y="242316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52.98%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7543800" y="32004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1.70%  mean 5-fold CV accuracy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26680" y="3794760"/>
            <a:ext cx="3154680" cy="0"/>
          </a:xfrm>
          <a:prstGeom prst="line">
            <a:avLst/>
          </a:prstGeom>
          <a:noFill/>
          <a:ln w="12700">
            <a:solidFill>
              <a:srgbClr val="5FA3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397764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+2.85 pts over the 50.13% baseline — within noise, and CAR made it worse, not better.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26680" y="5029200"/>
            <a:ext cx="3154680" cy="0"/>
          </a:xfrm>
          <a:prstGeom prst="line">
            <a:avLst/>
          </a:prstGeom>
          <a:noFill/>
          <a:ln w="12700">
            <a:solidFill>
              <a:srgbClr val="5FA3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521208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standard single-band CSP + SVM does not provide strong class separation on this dataset.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 — Modeling Stage Review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493008" cy="310896"/>
          </a:xfrm>
          <a:prstGeom prst="roundRect">
            <a:avLst>
              <a:gd name="adj" fmla="val 50000"/>
            </a:avLst>
          </a:prstGeom>
          <a:solidFill>
            <a:srgbClr val="065A82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· DEEP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EEGNet — compact CNN on raw trials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EEG-specific architecture (temporal conv → depthwise spatial conv → separable conv) trained directly on the full 10-second, 4-channel trials.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6537960" cy="4023360"/>
          </a:xfrm>
          <a:prstGeom prst="roundRect">
            <a:avLst>
              <a:gd name="adj" fmla="val 2273"/>
            </a:avLst>
          </a:prstGeom>
          <a:solidFill>
            <a:srgbClr val="F4F7F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86000"/>
            <a:ext cx="5989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5989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2,497 parameters — tiny by deep-learning standards, chosen to suit a small dataset.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normalized 4 × 2,500 raw trial (train-only mean/std, no leakage).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100 epochs, early stopping + LR reduction on validation loss.</a:t>
            </a:r>
            <a:endParaRPr lang="en-US" sz="13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15 / 15 train / validation / test split, stratified by class.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5074920"/>
            <a:ext cx="598932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193792"/>
            <a:ext cx="5989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behavior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5486400"/>
            <a:ext cx="5989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 rose to ~59% while validation stayed ~50% and validation loss increased — classic overfitting on a signal without a strong pattern to learn.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69480" y="2103120"/>
            <a:ext cx="4069080" cy="4023360"/>
          </a:xfrm>
          <a:prstGeom prst="roundRect">
            <a:avLst>
              <a:gd name="adj" fmla="val 2273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543800" y="242316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50.32%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7543800" y="32004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 on the held-out test set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26680" y="3840480"/>
            <a:ext cx="3154680" cy="0"/>
          </a:xfrm>
          <a:prstGeom prst="line">
            <a:avLst/>
          </a:prstGeom>
          <a:noFill/>
          <a:ln w="12700">
            <a:solidFill>
              <a:srgbClr val="3D7C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43800" y="39776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50.39%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589520" y="438912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test accuracy — essentially equal to the 50.13% majority baseline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26680" y="5120640"/>
            <a:ext cx="3154680" cy="0"/>
          </a:xfrm>
          <a:prstGeom prst="line">
            <a:avLst/>
          </a:prstGeom>
          <a:noFill/>
          <a:ln w="12700">
            <a:solidFill>
              <a:srgbClr val="3D7C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5285232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model strongly favored RIGHT; full-trial EEGNet isn't extracting usable LEFT/RIGHT signal yet.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 — Modeling Stage Review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493008" cy="310896"/>
          </a:xfrm>
          <a:prstGeom prst="roundRect">
            <a:avLst>
              <a:gd name="adj" fmla="val 50000"/>
            </a:avLst>
          </a:prstGeom>
          <a:solidFill>
            <a:srgbClr val="2E7D5B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· DEEP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+ LSTM — the best of the three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1D-convolutional feature extractor feeding an LSTM temporal head, benchmarked against a CNN-only version on the same split as EEGNet.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26771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only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62,049 params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8803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7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50.32%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85800" y="3474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86200" y="210312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2E7D5B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0" y="226771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+ LSTM  ✓ selected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0" y="2606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53,921 params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0" y="28803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50.97%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114800" y="34747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DD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 — selected as best model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52360" y="2103120"/>
            <a:ext cx="3886200" cy="4023360"/>
          </a:xfrm>
          <a:prstGeom prst="roundRect">
            <a:avLst>
              <a:gd name="adj" fmla="val 2353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7726680" y="237744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54.26%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726680" y="315468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= balanced accuracy on held-out test set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18120" y="3886200"/>
            <a:ext cx="3154680" cy="0"/>
          </a:xfrm>
          <a:prstGeom prst="line">
            <a:avLst/>
          </a:prstGeom>
          <a:noFill/>
          <a:ln w="12700">
            <a:solidFill>
              <a:srgbClr val="3D4A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406908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+4.13 pts over the 50.13% majority baseline — the largest margin of the three models.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672084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343400"/>
            <a:ext cx="6720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precision/recall (~0.53–0.55 for both classes) — a small but real edge, not a one-sided guess like EEGNet's.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5120640"/>
            <a:ext cx="6720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i="1" dirty="0">
                <a:solidFill>
                  <a:srgbClr val="1F4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the most promising architecture of the three — worth revisiting first once cleaner data is available.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 — Modeling Stage Review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480560"/>
            <a:ext cx="3931920" cy="393192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three models compare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</p:spPr>
      </p:sp>
      <p:pic>
        <p:nvPicPr>
          <p:cNvPr id="6" name="Image 0" descr="/home/claude/assets/model_comparison.png">    </p:cNvPr>
          <p:cNvPicPr>
            <a:picLocks noChangeAspect="1"/>
          </p:cNvPicPr>
          <p:nvPr/>
        </p:nvPicPr>
        <p:blipFill>
          <a:blip r:embed="R6ca48e3f326b4700"/>
          <a:srcRect l="0" r="0" t="0" b="0"/>
          <a:stretch/>
        </p:blipFill>
        <p:spPr>
          <a:xfrm>
            <a:off x="731520" y="1737360"/>
            <a:ext cx="6583680" cy="3886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1600200"/>
            <a:ext cx="3931920" cy="4160520"/>
          </a:xfrm>
          <a:prstGeom prst="roundRect">
            <a:avLst>
              <a:gd name="adj" fmla="val 2326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8046720" y="1783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 line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0" y="219456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LSTM leads </a:t>
            </a:r>
            <a:endParaRPr lang="en-US" sz="1300" dirty="0"/>
          </a:p>
          <a:p>
            <a:pPr indent="0" marL="0">
              <a:lnSpc>
                <a:spcPts val="16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54.26%, the only model with a clear (if modest) margin over chance.</a:t>
            </a:r>
            <a:endParaRPr lang="en-US" sz="1300" dirty="0"/>
          </a:p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+ SVM and EEGNet </a:t>
            </a:r>
            <a:endParaRPr lang="en-US" sz="1300" dirty="0"/>
          </a:p>
          <a:p>
            <a:pPr indent="0" marL="0">
              <a:lnSpc>
                <a:spcPts val="16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land within ~2 points of the 50.13% baseline.</a:t>
            </a:r>
            <a:endParaRPr lang="en-US" sz="1300" dirty="0"/>
          </a:p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together with the low-quality-data finding, 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looks like a data ceiling, not an architecture problem.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CortexCall — Modeling Stage Review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712f0c0e-e749-4348-8b57-4686d7e7a811.png">    </p:cNvPr>
          <p:cNvPicPr>
            <a:picLocks noChangeAspect="1"/>
          </p:cNvPicPr>
          <p:nvPr/>
        </p:nvPicPr>
        <p:blipFill>
          <a:blip r:embed="R0406e46c09f14f5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087a210-5b26-4ca6-bf9b-b74cdbec53c0.png">    </p:cNvPr>
          <p:cNvPicPr>
            <a:picLocks noChangeAspect="1"/>
          </p:cNvPicPr>
          <p:nvPr/>
        </p:nvPicPr>
        <p:blipFill>
          <a:blip r:embed="R47cc62bdbd39414b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1bf24d31-a450-4410-be6b-1084196b1dfd.png">    </p:cNvPr>
          <p:cNvPicPr>
            <a:picLocks noChangeAspect="1"/>
          </p:cNvPicPr>
          <p:nvPr/>
        </p:nvPicPr>
        <p:blipFill>
          <a:blip r:embed="Rc55544ed9ed645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6dafd2b6-8a18-4446-a4d7-2d76c6632b9b.png">    </p:cNvPr>
          <p:cNvPicPr>
            <a:picLocks noChangeAspect="1"/>
          </p:cNvPicPr>
          <p:nvPr/>
        </p:nvPicPr>
        <p:blipFill>
          <a:blip r:embed="Ra8f644a1d287413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8ae0e1ef-0e24-43c5-b5b4-a9c3c2d73308.png">    </p:cNvPr>
          <p:cNvPicPr>
            <a:picLocks noChangeAspect="1"/>
          </p:cNvPicPr>
          <p:nvPr/>
        </p:nvPicPr>
        <p:blipFill>
          <a:blip r:embed="R8f8560f3222746fa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PptxGenJS Presentation</dc:title>
  <dc:subject>PptxGenJS Presentation</dc:subject>
  <dc:creator>PptxGenJS</dc:creator>
  <lastModifiedBy>PptxGenJS</lastModifiedBy>
  <revision>1</revision>
  <dcterms:created xsi:type="dcterms:W3CDTF">2026-09-01T01:08:19.0000000Z</dcterms:created>
  <dcterms:modified xsi:type="dcterms:W3CDTF">2026-09-01T01:15:34.5300000Z</dcterms:modified>
</coreProperties>
</file>